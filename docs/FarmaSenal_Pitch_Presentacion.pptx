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EB26E1-4FCD-D50E-2364-3CE55626A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4542D52-208E-5D17-00B1-F648466603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1F37DE1-2580-ECE9-FFD1-AE3806223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3A39AB-938C-8A25-0A31-D05904E0D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A8C223F-5BF7-08C5-2221-CD158E057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66204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6D1A81-AAE9-EFAB-4B43-8D6AB6C0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853D34B-EE99-CF07-44BA-F605A0B19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068B884-91B2-8C82-309F-AA5D14E5F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9980468-83AF-87A2-82E2-14487260C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8462D4-2AD1-A283-94A0-C49FECB6D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32297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DADD15-ACB4-56FB-43AD-684DB7C0C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8E8129E-A833-2B41-AA55-43F0D47D2A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B7FAF8B-353B-6A25-0389-3F9AD2E87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FC7CFEC-7D82-9683-85EC-C6D15A538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035E52-1D95-0C00-D714-56DD7CDE1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95489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DA68C-99C7-1F05-C506-88922A687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B410204-ED14-99B0-B150-65C9F7F3AE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F43DCDF-C30B-E533-0446-6AFC280ED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FAF0EEA-7642-4B66-FA93-F4AD51131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3740E35-9BD7-514F-9DA9-0A7335954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1567E3B-42A2-42E2-1A52-4746CA4A4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86902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BD3C5D-81F7-E6D2-E267-B967F30E8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57A7303-289F-B463-B225-C0F09FFC9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E3A882D-CED9-E056-AB57-7C40AE458F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B2EF67B-E0A8-0445-AD2F-784D8C6A1B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2881BB8-A576-EBE7-C6D0-EB3C06656C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3067829-C198-C7C4-41FF-9D6D9E255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CDE9F5F-9865-7800-1152-CB87570AD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05328D4-6B7C-1C4C-A51D-528441B43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08622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6BC19C-12CA-AD43-1CF4-142D8F581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8E60EAE-6A75-32F7-80C0-2D9FCFCFE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DE9B66F-2B3F-DB4A-2AC0-80E0CC1CD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5211C76-1605-4C82-F0BB-3AB47B8EC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51176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E684C4B-D146-24E4-7FBB-976C5D798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48AC3BC-3B3F-30CB-189A-812B527DE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A4EED23-EC1A-D098-5BF8-80071CB48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322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8A5727-95C1-69CE-16A3-1300D5E3B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D5513BC-5AA7-B580-97D2-1CA9890DAA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B8DAA90-4448-67A7-D040-0593DB6B0F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4EF6B5D-A827-47C0-7CB1-A6DE695D2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16E466A-25A3-DEFB-EF50-4E258DBEC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66B5041-6DF0-2C5A-FFC0-85B62633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2522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E4BC4A-B2DA-F6DA-0DED-864A951DF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2B09912-6FCA-DEB0-2ECD-AA0A267F74D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3B15B51-B850-54DF-FFE2-E672D27A07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EF05B45-8DE0-C098-315C-32450FFC2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65D7FE3-2D0E-CCC6-ED6F-52D723E20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342B4C-2B9B-EBCC-81A5-2D4D9AEE8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97420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BA6076-FEC3-023B-8E1E-3FFD40AB8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E6C4503-1562-3546-6B86-06A95C3EC0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9D9811-F9B0-9B01-FA03-D3FBD181E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96ADE0-5776-BD6D-490C-84308ABCC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01F3166-67D0-8396-08DE-55E74DC33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85386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A72CE71-8C3A-F192-93BD-ABB0B0445B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E577475-A37F-0FBA-2B8A-0E20B80E10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54FF8C-A8F2-19EE-3DDA-C9A867B5E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505AA1-F5D2-086D-264F-CA6A3C3E3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A10469D-ECE4-BA82-E3C1-35512068C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6416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59DE5-3460-F922-E178-BD989A4B9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773EF3D-611C-1267-44DD-F90830F452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C5DB3DE-3489-3C99-FDC2-3D542EEB7D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654862-65C9-2732-6D0B-58B000DA64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F664373-B83A-7C85-4640-FBD898304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57343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526D181-044A-E827-11B2-F57F517DEFA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8A94069-985B-7E40-C080-6267D007012C}"/>
              </a:ext>
            </a:extLst>
          </p:cNvPr>
          <p:cNvSpPr/>
          <p:nvPr/>
        </p:nvSpPr>
        <p:spPr>
          <a:xfrm>
            <a:off x="889000" y="1778000"/>
            <a:ext cx="76200" cy="21590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1F771DA-7567-8488-BC04-8E8A7F3FB59E}"/>
              </a:ext>
            </a:extLst>
          </p:cNvPr>
          <p:cNvSpPr txBox="1"/>
          <p:nvPr/>
        </p:nvSpPr>
        <p:spPr>
          <a:xfrm>
            <a:off x="1143000" y="1651000"/>
            <a:ext cx="10160000" cy="89255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5200" b="1">
                <a:solidFill>
                  <a:srgbClr val="FFFFFF"/>
                </a:solidFill>
                <a:latin typeface="Calibri" panose="020F0502020204030204" pitchFamily="34" charset="0"/>
              </a:rPr>
              <a:t>FarmaSenal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0B21D2D-51CB-AA41-B949-61DA83EC6A39}"/>
              </a:ext>
            </a:extLst>
          </p:cNvPr>
          <p:cNvSpPr txBox="1"/>
          <p:nvPr/>
        </p:nvSpPr>
        <p:spPr>
          <a:xfrm>
            <a:off x="1206500" y="2794000"/>
            <a:ext cx="1016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000">
                <a:solidFill>
                  <a:srgbClr val="0070BA"/>
                </a:solidFill>
                <a:latin typeface="Calibri" panose="020F0502020204030204" pitchFamily="34" charset="0"/>
              </a:rPr>
              <a:t>Inteligencia Geoespacial para la Cadena de Salud y Abastecimiento</a:t>
            </a:r>
            <a:endParaRPr lang="es-EC" sz="2000">
              <a:solidFill>
                <a:srgbClr val="0070BA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08B3534-C43D-4E3E-9AC4-620633D0E3CF}"/>
              </a:ext>
            </a:extLst>
          </p:cNvPr>
          <p:cNvSpPr txBox="1"/>
          <p:nvPr/>
        </p:nvSpPr>
        <p:spPr>
          <a:xfrm>
            <a:off x="1206500" y="4064000"/>
            <a:ext cx="1016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400">
                <a:solidFill>
                  <a:srgbClr val="FFFFFF"/>
                </a:solidFill>
                <a:latin typeface="Calibri" panose="020F0502020204030204" pitchFamily="34" charset="0"/>
              </a:rPr>
              <a:t>Hackathon ConnectatVentures 2026</a:t>
            </a:r>
          </a:p>
          <a:p>
            <a:r>
              <a:rPr lang="es-MX" sz="1400">
                <a:solidFill>
                  <a:srgbClr val="FFFFFF"/>
                </a:solidFill>
                <a:latin typeface="Calibri" panose="020F0502020204030204" pitchFamily="34" charset="0"/>
              </a:rPr>
              <a:t>Reto: Farmaenlace - Linea: Mejora Operativa  |  Equipo: Los 21 Pilotos</a:t>
            </a:r>
            <a:endParaRPr lang="es-EC" sz="1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8993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3EBCB0A-4263-4D7C-3618-EDF03FD389A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1674EDB-AAFC-2E93-1C7B-DF8BF99DAEE4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68DF4EA-3B42-FECE-366E-130B97CDA67D}"/>
              </a:ext>
            </a:extLst>
          </p:cNvPr>
          <p:cNvSpPr txBox="1"/>
          <p:nvPr/>
        </p:nvSpPr>
        <p:spPr>
          <a:xfrm>
            <a:off x="762000" y="381000"/>
            <a:ext cx="10668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C" sz="2600" b="1">
                <a:solidFill>
                  <a:srgbClr val="0F2042"/>
                </a:solidFill>
                <a:latin typeface="Calibri" panose="020F0502020204030204" pitchFamily="34" charset="0"/>
              </a:rPr>
              <a:t>Imaginemos a Don Jose...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53F91AB-8B84-3188-056D-8B09C0FAC0B7}"/>
              </a:ext>
            </a:extLst>
          </p:cNvPr>
          <p:cNvSpPr txBox="1"/>
          <p:nvPr/>
        </p:nvSpPr>
        <p:spPr>
          <a:xfrm>
            <a:off x="762000" y="952500"/>
            <a:ext cx="10668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300">
                <a:solidFill>
                  <a:srgbClr val="64748B"/>
                </a:solidFill>
                <a:latin typeface="Calibri" panose="020F0502020204030204" pitchFamily="34" charset="0"/>
              </a:rPr>
              <a:t>La realidad humana detras de la percha vacia y el costo de la fuga de clientes</a:t>
            </a:r>
            <a:endParaRPr lang="es-EC" sz="13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9BA7106-EC60-8F7E-1B97-AF034796A9C5}"/>
              </a:ext>
            </a:extLst>
          </p:cNvPr>
          <p:cNvSpPr txBox="1"/>
          <p:nvPr/>
        </p:nvSpPr>
        <p:spPr>
          <a:xfrm>
            <a:off x="762000" y="6413500"/>
            <a:ext cx="10668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>
                <a:solidFill>
                  <a:srgbClr val="64748B"/>
                </a:solidFill>
                <a:latin typeface="Calibri" panose="020F0502020204030204" pitchFamily="34" charset="0"/>
              </a:rPr>
              <a:t>FarmaSenal | Reto Farmaenlace: Linea Mejora Operativa - Equipo Los 21 Pilotos</a:t>
            </a:r>
            <a:endParaRPr lang="es-EC" sz="10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70E6857-3344-9A04-9AAA-128DBD6B176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524000"/>
            <a:ext cx="4572000" cy="3429000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A46AF4BF-5F76-3664-3E4A-EC65CE7E68F6}"/>
              </a:ext>
            </a:extLst>
          </p:cNvPr>
          <p:cNvSpPr/>
          <p:nvPr/>
        </p:nvSpPr>
        <p:spPr>
          <a:xfrm>
            <a:off x="762000" y="1524000"/>
            <a:ext cx="4572000" cy="3429000"/>
          </a:xfrm>
          <a:prstGeom prst="rect">
            <a:avLst/>
          </a:prstGeom>
          <a:noFill/>
          <a:ln w="25400" cap="flat" cmpd="sng" algn="ctr">
            <a:solidFill>
              <a:srgbClr val="0070BA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949E502-80B3-DE4E-A4EA-E80555DB87EA}"/>
              </a:ext>
            </a:extLst>
          </p:cNvPr>
          <p:cNvSpPr/>
          <p:nvPr/>
        </p:nvSpPr>
        <p:spPr>
          <a:xfrm>
            <a:off x="5715000" y="1524000"/>
            <a:ext cx="5715000" cy="4445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32AFA6B6-7475-D463-4ABC-9349C0ACE130}"/>
              </a:ext>
            </a:extLst>
          </p:cNvPr>
          <p:cNvSpPr txBox="1"/>
          <p:nvPr/>
        </p:nvSpPr>
        <p:spPr>
          <a:xfrm>
            <a:off x="5969000" y="1714500"/>
            <a:ext cx="5207000" cy="279307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Pensemos en alguien querido:</a:t>
            </a:r>
          </a:p>
          <a:p>
            <a:endParaRPr lang="es-MX" sz="135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Camina a su farmacia de confianza por sus medicinas diarias de la presion o dolor (Losartan, Paracetamol).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La respuesta en mostrador: 'Se termino, nos llega la proxima semana'.</a:t>
            </a:r>
          </a:p>
          <a:p>
            <a:endParaRPr lang="es-MX" sz="135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La Brecha Digital Real: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El adulto mayor no usa apps ni e-commerce; el 98% compra en el canal fisico presencial.</a:t>
            </a:r>
          </a:p>
          <a:p>
            <a:endParaRPr lang="es-MX" sz="135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El Costo para Farmaenlace: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&gt; 50% de clientes compra una sola vez (fuga a la competencia).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Se destruye el Valor de Vida (LTV) del paciente cronico.</a:t>
            </a:r>
            <a:endParaRPr lang="es-EC" sz="135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041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4510E932-2E97-1453-51E4-6A864A06F6B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FB11653-46D0-EE56-EC61-4C5639BFDA2A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C473B7A-0FC4-6D00-8A94-99CAC7934967}"/>
              </a:ext>
            </a:extLst>
          </p:cNvPr>
          <p:cNvSpPr txBox="1"/>
          <p:nvPr/>
        </p:nvSpPr>
        <p:spPr>
          <a:xfrm>
            <a:off x="762000" y="381000"/>
            <a:ext cx="10668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2600" b="1">
                <a:solidFill>
                  <a:srgbClr val="0F2042"/>
                </a:solidFill>
                <a:latin typeface="Calibri" panose="020F0502020204030204" pitchFamily="34" charset="0"/>
              </a:rPr>
              <a:t>Por que ocurre? Fallas del Abastecimiento Tradicional</a:t>
            </a:r>
            <a:endParaRPr lang="es-EC" sz="2600" b="1">
              <a:solidFill>
                <a:srgbClr val="0F204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84C3731-AC3E-A0FE-B3A4-543C9F605DBF}"/>
              </a:ext>
            </a:extLst>
          </p:cNvPr>
          <p:cNvSpPr txBox="1"/>
          <p:nvPr/>
        </p:nvSpPr>
        <p:spPr>
          <a:xfrm>
            <a:off x="762000" y="952500"/>
            <a:ext cx="10668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300">
                <a:solidFill>
                  <a:srgbClr val="64748B"/>
                </a:solidFill>
                <a:latin typeface="Calibri" panose="020F0502020204030204" pitchFamily="34" charset="0"/>
              </a:rPr>
              <a:t>El bache logistico de 24-48h y el aislamiento territorial entre farmacias</a:t>
            </a:r>
            <a:endParaRPr lang="es-EC" sz="13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7CCF74D-C09C-36C7-BA41-449A90E447F5}"/>
              </a:ext>
            </a:extLst>
          </p:cNvPr>
          <p:cNvSpPr txBox="1"/>
          <p:nvPr/>
        </p:nvSpPr>
        <p:spPr>
          <a:xfrm>
            <a:off x="762000" y="6413500"/>
            <a:ext cx="10668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>
                <a:solidFill>
                  <a:srgbClr val="64748B"/>
                </a:solidFill>
                <a:latin typeface="Calibri" panose="020F0502020204030204" pitchFamily="34" charset="0"/>
              </a:rPr>
              <a:t>FarmaSenal | Reto Farmaenlace: Linea Mejora Operativa - Equipo Los 21 Pilotos</a:t>
            </a:r>
            <a:endParaRPr lang="es-EC" sz="10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0D95DBD-C508-3253-240D-2FEEA8C15B35}"/>
              </a:ext>
            </a:extLst>
          </p:cNvPr>
          <p:cNvSpPr/>
          <p:nvPr/>
        </p:nvSpPr>
        <p:spPr>
          <a:xfrm>
            <a:off x="762000" y="1651000"/>
            <a:ext cx="3302000" cy="4191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8AB4500-BA18-7C7D-1874-E0830851250A}"/>
              </a:ext>
            </a:extLst>
          </p:cNvPr>
          <p:cNvSpPr txBox="1"/>
          <p:nvPr/>
        </p:nvSpPr>
        <p:spPr>
          <a:xfrm>
            <a:off x="952500" y="1841500"/>
            <a:ext cx="2921000" cy="166199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b="1">
                <a:solidFill>
                  <a:srgbClr val="0F2042"/>
                </a:solidFill>
                <a:latin typeface="Calibri" panose="020F0502020204030204" pitchFamily="34" charset="0"/>
              </a:rPr>
              <a:t>1. Modelo Reactivo</a:t>
            </a:r>
          </a:p>
          <a:p>
            <a:endParaRPr lang="es-MX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1E293B"/>
                </a:solidFill>
                <a:latin typeface="Calibri" panose="020F0502020204030204" pitchFamily="34" charset="0"/>
              </a:rPr>
              <a:t>La reposicion se ordena tarde: solo cuando el estante ya esta vacio o cruzo minimos criticos.</a:t>
            </a:r>
          </a:p>
          <a:p>
            <a:endParaRPr lang="es-MX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1E293B"/>
                </a:solidFill>
                <a:latin typeface="Calibri" panose="020F0502020204030204" pitchFamily="34" charset="0"/>
              </a:rPr>
              <a:t>No anticipa picos de consumo local.</a:t>
            </a:r>
            <a:endParaRPr lang="es-EC" sz="140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4EB8D637-2B52-4007-6CC4-C2A769F1CDA5}"/>
              </a:ext>
            </a:extLst>
          </p:cNvPr>
          <p:cNvSpPr/>
          <p:nvPr/>
        </p:nvSpPr>
        <p:spPr>
          <a:xfrm>
            <a:off x="4445000" y="1651000"/>
            <a:ext cx="3302000" cy="4191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CED8547-CE70-A41D-4C15-3465B7EF336F}"/>
              </a:ext>
            </a:extLst>
          </p:cNvPr>
          <p:cNvSpPr txBox="1"/>
          <p:nvPr/>
        </p:nvSpPr>
        <p:spPr>
          <a:xfrm>
            <a:off x="4635500" y="1841500"/>
            <a:ext cx="2921000" cy="187743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b="1">
                <a:solidFill>
                  <a:srgbClr val="E11D48"/>
                </a:solidFill>
                <a:latin typeface="Calibri" panose="020F0502020204030204" pitchFamily="34" charset="0"/>
              </a:rPr>
              <a:t>2. Bache Logistico</a:t>
            </a:r>
          </a:p>
          <a:p>
            <a:endParaRPr lang="es-MX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1E293B"/>
                </a:solidFill>
                <a:latin typeface="Calibri" panose="020F0502020204030204" pitchFamily="34" charset="0"/>
              </a:rPr>
              <a:t>Entre emitir la orden a bodega central, alistar el despacho y transportar el producto transcurren 24 a 48 horas.</a:t>
            </a:r>
          </a:p>
          <a:p>
            <a:endParaRPr lang="es-MX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1E293B"/>
                </a:solidFill>
                <a:latin typeface="Calibri" panose="020F0502020204030204" pitchFamily="34" charset="0"/>
              </a:rPr>
              <a:t>Ventana ciega con percha vacia.</a:t>
            </a:r>
            <a:endParaRPr lang="es-EC" sz="140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904A4F2-7818-9074-3A4D-D782769B5FD8}"/>
              </a:ext>
            </a:extLst>
          </p:cNvPr>
          <p:cNvSpPr/>
          <p:nvPr/>
        </p:nvSpPr>
        <p:spPr>
          <a:xfrm>
            <a:off x="8128000" y="1651000"/>
            <a:ext cx="3302000" cy="4191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4BEAEDC-B775-D96A-7D6D-409EA5A3F1FF}"/>
              </a:ext>
            </a:extLst>
          </p:cNvPr>
          <p:cNvSpPr txBox="1"/>
          <p:nvPr/>
        </p:nvSpPr>
        <p:spPr>
          <a:xfrm>
            <a:off x="8318500" y="1841500"/>
            <a:ext cx="2921000" cy="187743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b="1">
                <a:solidFill>
                  <a:srgbClr val="0070BA"/>
                </a:solidFill>
                <a:latin typeface="Calibri" panose="020F0502020204030204" pitchFamily="34" charset="0"/>
              </a:rPr>
              <a:t>3. Aislamiento Local</a:t>
            </a:r>
          </a:p>
          <a:p>
            <a:endParaRPr lang="es-MX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1E293B"/>
                </a:solidFill>
                <a:latin typeface="Calibri" panose="020F0502020204030204" pitchFamily="34" charset="0"/>
              </a:rPr>
              <a:t>Dos farmacias en el mismo sector (a 10 minutos de distancia) no se comunican operativamente.</a:t>
            </a:r>
          </a:p>
          <a:p>
            <a:endParaRPr lang="es-MX" sz="140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1E293B"/>
                </a:solidFill>
                <a:latin typeface="Calibri" panose="020F0502020204030204" pitchFamily="34" charset="0"/>
              </a:rPr>
              <a:t>Una sufre quiebre mientras la otra tiene excedentes en riesgo de vencer.</a:t>
            </a:r>
            <a:endParaRPr lang="es-EC" sz="140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165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A3F5E25-6C06-50C6-2974-55A0B6CE68B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61CA618-70FB-616D-5F64-B60BD2013FE3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8C15D28-E1AD-6F31-73A2-E94DEEB327F0}"/>
              </a:ext>
            </a:extLst>
          </p:cNvPr>
          <p:cNvSpPr txBox="1"/>
          <p:nvPr/>
        </p:nvSpPr>
        <p:spPr>
          <a:xfrm>
            <a:off x="762000" y="381000"/>
            <a:ext cx="10668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2600" b="1">
                <a:solidFill>
                  <a:srgbClr val="0F2042"/>
                </a:solidFill>
                <a:latin typeface="Calibri" panose="020F0502020204030204" pitchFamily="34" charset="0"/>
              </a:rPr>
              <a:t>FarmaSenal: Inteligencia Geoespacial en Vivo</a:t>
            </a:r>
            <a:endParaRPr lang="es-EC" sz="2600" b="1">
              <a:solidFill>
                <a:srgbClr val="0F204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FC23486-F7D7-20B5-78F6-898D68987E1A}"/>
              </a:ext>
            </a:extLst>
          </p:cNvPr>
          <p:cNvSpPr txBox="1"/>
          <p:nvPr/>
        </p:nvSpPr>
        <p:spPr>
          <a:xfrm>
            <a:off x="762000" y="952500"/>
            <a:ext cx="10668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300">
                <a:solidFill>
                  <a:srgbClr val="64748B"/>
                </a:solidFill>
                <a:latin typeface="Calibri" panose="020F0502020204030204" pitchFamily="34" charset="0"/>
              </a:rPr>
              <a:t>Foco Estrategico: Linea 3 - Mejora Operativa de la Cadena de Suministro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F38A81E-EB83-618B-DC59-ED25762F53EC}"/>
              </a:ext>
            </a:extLst>
          </p:cNvPr>
          <p:cNvSpPr txBox="1"/>
          <p:nvPr/>
        </p:nvSpPr>
        <p:spPr>
          <a:xfrm>
            <a:off x="762000" y="6413500"/>
            <a:ext cx="10668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>
                <a:solidFill>
                  <a:srgbClr val="64748B"/>
                </a:solidFill>
                <a:latin typeface="Calibri" panose="020F0502020204030204" pitchFamily="34" charset="0"/>
              </a:rPr>
              <a:t>FarmaSenal | Reto Farmaenlace: Linea Mejora Operativa - Equipo Los 21 Pilotos</a:t>
            </a:r>
            <a:endParaRPr lang="es-EC" sz="10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ED97D7D-E75E-A991-6C9E-BC14ECBA685C}"/>
              </a:ext>
            </a:extLst>
          </p:cNvPr>
          <p:cNvSpPr/>
          <p:nvPr/>
        </p:nvSpPr>
        <p:spPr>
          <a:xfrm>
            <a:off x="762000" y="1524000"/>
            <a:ext cx="6350000" cy="4445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B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F1248A7-1B87-9987-F210-D7D3505CDE87}"/>
              </a:ext>
            </a:extLst>
          </p:cNvPr>
          <p:cNvSpPr/>
          <p:nvPr/>
        </p:nvSpPr>
        <p:spPr>
          <a:xfrm>
            <a:off x="1016000" y="1714500"/>
            <a:ext cx="5842000" cy="444500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230E78-2346-ED1C-5ABF-011FD49CE84F}"/>
              </a:ext>
            </a:extLst>
          </p:cNvPr>
          <p:cNvSpPr txBox="1"/>
          <p:nvPr/>
        </p:nvSpPr>
        <p:spPr>
          <a:xfrm>
            <a:off x="1079500" y="1778000"/>
            <a:ext cx="5715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b="1">
                <a:solidFill>
                  <a:srgbClr val="FFFFFF"/>
                </a:solidFill>
                <a:latin typeface="Calibri" panose="020F0502020204030204" pitchFamily="34" charset="0"/>
              </a:rPr>
              <a:t>ENFOQUE DEL RETO: LINEA 3 - MEJORA OPERATIVA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769474B-23E3-643F-0BD8-43C16CA6ACF8}"/>
              </a:ext>
            </a:extLst>
          </p:cNvPr>
          <p:cNvSpPr txBox="1"/>
          <p:nvPr/>
        </p:nvSpPr>
        <p:spPr>
          <a:xfrm>
            <a:off x="1016000" y="2286000"/>
            <a:ext cx="5842000" cy="279307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C" sz="1350">
                <a:solidFill>
                  <a:srgbClr val="1E293B"/>
                </a:solidFill>
                <a:latin typeface="Calibri" panose="020F0502020204030204" pitchFamily="34" charset="0"/>
              </a:rPr>
              <a:t>Transformamos la reposicion de REACTIVA a PREDICTIVA:</a:t>
            </a:r>
          </a:p>
          <a:p>
            <a:endParaRPr lang="es-EC" sz="135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EC" sz="1350">
                <a:solidFill>
                  <a:srgbClr val="1E293B"/>
                </a:solidFill>
                <a:latin typeface="Calibri" panose="020F0502020204030204" pitchFamily="34" charset="0"/>
              </a:rPr>
              <a:t>- Ventana Movil Predictiva:</a:t>
            </a:r>
          </a:p>
          <a:p>
            <a:r>
              <a:rPr lang="es-EC" sz="1350">
                <a:solidFill>
                  <a:srgbClr val="1E293B"/>
                </a:solidFill>
                <a:latin typeface="Calibri" panose="020F0502020204030204" pitchFamily="34" charset="0"/>
              </a:rPr>
              <a:t>  Compara 30 dias recientes vs 90 dias base para detectar anomalias tempranas de consumo.</a:t>
            </a:r>
          </a:p>
          <a:p>
            <a:endParaRPr lang="es-EC" sz="135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EC" sz="1350">
                <a:solidFill>
                  <a:srgbClr val="1E293B"/>
                </a:solidFill>
                <a:latin typeface="Calibri" panose="020F0502020204030204" pitchFamily="34" charset="0"/>
              </a:rPr>
              <a:t>- Semaforo Explicable por Sector:</a:t>
            </a:r>
          </a:p>
          <a:p>
            <a:r>
              <a:rPr lang="es-EC" sz="1350">
                <a:solidFill>
                  <a:srgbClr val="1E293B"/>
                </a:solidFill>
                <a:latin typeface="Calibri" panose="020F0502020204030204" pitchFamily="34" charset="0"/>
              </a:rPr>
              <a:t>  * Amarillo: Alza observada (+50% demanda diaria).</a:t>
            </a:r>
          </a:p>
          <a:p>
            <a:r>
              <a:rPr lang="es-EC" sz="1350">
                <a:solidFill>
                  <a:srgbClr val="1E293B"/>
                </a:solidFill>
                <a:latin typeface="Calibri" panose="020F0502020204030204" pitchFamily="34" charset="0"/>
              </a:rPr>
              <a:t>  * Rojo: Alza critica (+100% demanda diaria).</a:t>
            </a:r>
          </a:p>
          <a:p>
            <a:endParaRPr lang="es-EC" sz="135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EC" sz="1350">
                <a:solidFill>
                  <a:srgbClr val="1E293B"/>
                </a:solidFill>
                <a:latin typeface="Calibri" panose="020F0502020204030204" pitchFamily="34" charset="0"/>
              </a:rPr>
              <a:t>- Balanceo Preventivo entre Sucursales:</a:t>
            </a:r>
          </a:p>
          <a:p>
            <a:r>
              <a:rPr lang="es-EC" sz="1350">
                <a:solidFill>
                  <a:srgbClr val="1E293B"/>
                </a:solidFill>
                <a:latin typeface="Calibri" panose="020F0502020204030204" pitchFamily="34" charset="0"/>
              </a:rPr>
              <a:t>  Identifica excedentes en locales cercanos para sugerir traslados antes de que ocurra el quiebre.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F4E1B2A-3CA7-0F23-C967-BB681658D8E8}"/>
              </a:ext>
            </a:extLst>
          </p:cNvPr>
          <p:cNvSpPr/>
          <p:nvPr/>
        </p:nvSpPr>
        <p:spPr>
          <a:xfrm>
            <a:off x="7366000" y="1524000"/>
            <a:ext cx="4064000" cy="4445000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52BD576-0CBB-A218-AB3C-02068DF4A583}"/>
              </a:ext>
            </a:extLst>
          </p:cNvPr>
          <p:cNvSpPr txBox="1"/>
          <p:nvPr/>
        </p:nvSpPr>
        <p:spPr>
          <a:xfrm>
            <a:off x="7620000" y="1905000"/>
            <a:ext cx="3556000" cy="258532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2200" b="1">
                <a:solidFill>
                  <a:srgbClr val="0070BA"/>
                </a:solidFill>
                <a:latin typeface="Calibri" panose="020F0502020204030204" pitchFamily="34" charset="0"/>
              </a:rPr>
              <a:t>DEMO EN VIVO</a:t>
            </a:r>
          </a:p>
          <a:p>
            <a:endParaRPr lang="es-MX" sz="1400">
              <a:solidFill>
                <a:srgbClr val="FFFFFF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FFFFFF"/>
                </a:solidFill>
                <a:latin typeface="Calibri" panose="020F0502020204030204" pitchFamily="34" charset="0"/>
              </a:rPr>
              <a:t>[Paso al Dashboard]</a:t>
            </a:r>
          </a:p>
          <a:p>
            <a:endParaRPr lang="es-MX" sz="1400">
              <a:solidFill>
                <a:srgbClr val="FFFFFF"/>
              </a:solidFill>
              <a:latin typeface="Calibri" panose="020F0502020204030204" pitchFamily="34" charset="0"/>
            </a:endParaRPr>
          </a:p>
          <a:p>
            <a:r>
              <a:rPr lang="es-MX" sz="1400">
                <a:solidFill>
                  <a:srgbClr val="FFFFFF"/>
                </a:solidFill>
                <a:latin typeface="Calibri" panose="020F0502020204030204" pitchFamily="34" charset="0"/>
              </a:rPr>
              <a:t>- Mapa interactivo Leaflet + CARTO</a:t>
            </a:r>
          </a:p>
          <a:p>
            <a:r>
              <a:rPr lang="es-MX" sz="1400">
                <a:solidFill>
                  <a:srgbClr val="FFFFFF"/>
                </a:solidFill>
                <a:latin typeface="Calibri" panose="020F0502020204030204" pitchFamily="34" charset="0"/>
              </a:rPr>
              <a:t>- 100 farmacias geolocalizadas</a:t>
            </a:r>
          </a:p>
          <a:p>
            <a:r>
              <a:rPr lang="es-MX" sz="1400">
                <a:solidFill>
                  <a:srgbClr val="FFFFFF"/>
                </a:solidFill>
                <a:latin typeface="Calibri" panose="020F0502020204030204" pitchFamily="34" charset="0"/>
              </a:rPr>
              <a:t>- Filtro en categorias sensibles (Cardio, Analgesicos, Respiratorios)</a:t>
            </a:r>
          </a:p>
          <a:p>
            <a:r>
              <a:rPr lang="es-MX" sz="1400">
                <a:solidFill>
                  <a:srgbClr val="FFFFFF"/>
                </a:solidFill>
                <a:latin typeface="Calibri" panose="020F0502020204030204" pitchFamily="34" charset="0"/>
              </a:rPr>
              <a:t>- Alertas dinamicas en tiempo real</a:t>
            </a:r>
          </a:p>
          <a:p>
            <a:r>
              <a:rPr lang="es-MX" sz="1400">
                <a:solidFill>
                  <a:srgbClr val="FFFFFF"/>
                </a:solidFill>
                <a:latin typeface="Calibri" panose="020F0502020204030204" pitchFamily="34" charset="0"/>
              </a:rPr>
              <a:t>- API Python lista para AWS Lambda y Vendix POS</a:t>
            </a:r>
            <a:endParaRPr lang="es-EC" sz="14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8465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1B33BB2B-1A67-A177-280E-A103838C1F7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DA2B893-760B-BB27-9D7C-0F8E8C47A1A6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B344BF5-B61E-9C12-BC6A-FD37738750A1}"/>
              </a:ext>
            </a:extLst>
          </p:cNvPr>
          <p:cNvSpPr txBox="1"/>
          <p:nvPr/>
        </p:nvSpPr>
        <p:spPr>
          <a:xfrm>
            <a:off x="762000" y="381000"/>
            <a:ext cx="10668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2600" b="1">
                <a:solidFill>
                  <a:srgbClr val="0F2042"/>
                </a:solidFill>
                <a:latin typeface="Calibri" panose="020F0502020204030204" pitchFamily="34" charset="0"/>
              </a:rPr>
              <a:t>Novedad, Diferenciacion e Impacto Operativo</a:t>
            </a:r>
            <a:endParaRPr lang="es-EC" sz="2600" b="1">
              <a:solidFill>
                <a:srgbClr val="0F204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9CAB6C8-69BB-172E-35E3-A30415AF06B8}"/>
              </a:ext>
            </a:extLst>
          </p:cNvPr>
          <p:cNvSpPr txBox="1"/>
          <p:nvPr/>
        </p:nvSpPr>
        <p:spPr>
          <a:xfrm>
            <a:off x="762000" y="952500"/>
            <a:ext cx="10668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300">
                <a:solidFill>
                  <a:srgbClr val="64748B"/>
                </a:solidFill>
                <a:latin typeface="Calibri" panose="020F0502020204030204" pitchFamily="34" charset="0"/>
              </a:rPr>
              <a:t>Eficiencia logistica de proximidad y retorno de inversion medible</a:t>
            </a:r>
            <a:endParaRPr lang="es-EC" sz="13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862A837-A02E-D356-D0F9-A10829828E66}"/>
              </a:ext>
            </a:extLst>
          </p:cNvPr>
          <p:cNvSpPr txBox="1"/>
          <p:nvPr/>
        </p:nvSpPr>
        <p:spPr>
          <a:xfrm>
            <a:off x="762000" y="6413500"/>
            <a:ext cx="10668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>
                <a:solidFill>
                  <a:srgbClr val="64748B"/>
                </a:solidFill>
                <a:latin typeface="Calibri" panose="020F0502020204030204" pitchFamily="34" charset="0"/>
              </a:rPr>
              <a:t>FarmaSenal | Reto Farmaenlace: Linea Mejora Operativa - Equipo Los 21 Pilotos</a:t>
            </a:r>
            <a:endParaRPr lang="es-EC" sz="10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332235A-3F5A-1040-035E-DBD5137DA1C0}"/>
              </a:ext>
            </a:extLst>
          </p:cNvPr>
          <p:cNvSpPr/>
          <p:nvPr/>
        </p:nvSpPr>
        <p:spPr>
          <a:xfrm>
            <a:off x="762000" y="1524000"/>
            <a:ext cx="5715000" cy="4445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687A8E0-BEBB-6E7C-C57B-00FA8E7C737C}"/>
              </a:ext>
            </a:extLst>
          </p:cNvPr>
          <p:cNvSpPr txBox="1"/>
          <p:nvPr/>
        </p:nvSpPr>
        <p:spPr>
          <a:xfrm>
            <a:off x="1016000" y="1714500"/>
            <a:ext cx="5207000" cy="30008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Diferenciacion vs BI Tradicional (Power BI / Qlik):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No es un reporte forense mensual o semanal del pasado.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Es un motor OPERATIVO en tiempo real que previene quiebres hoy y activa decisiones en primera linea.</a:t>
            </a:r>
          </a:p>
          <a:p>
            <a:endParaRPr lang="es-MX" sz="135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Interconexion de Sucursales en Red: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Convierte locales aislados en una red colaborativa que equilibra stock por proximidad.</a:t>
            </a:r>
          </a:p>
          <a:p>
            <a:endParaRPr lang="es-MX" sz="135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Impacto Operativo Cuantificable: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Ecuacion de Ahorro: 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  (Ventas Perdidas x Margen) + (Mermas por Caducidad x Costo) + Fletes Urgentes</a:t>
            </a:r>
          </a:p>
          <a:p>
            <a:r>
              <a:rPr lang="es-MX" sz="1350">
                <a:solidFill>
                  <a:srgbClr val="1E293B"/>
                </a:solidFill>
                <a:latin typeface="Calibri" panose="020F0502020204030204" pitchFamily="34" charset="0"/>
              </a:rPr>
              <a:t>- Proteccion directa del LTV del paciente cronico.</a:t>
            </a:r>
            <a:endParaRPr lang="es-EC" sz="135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0FAAE524-DFE0-A1EB-E17A-C684E24B3DC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1524000"/>
            <a:ext cx="4572000" cy="34290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ED8F95D2-6D98-4D8F-C5A0-252BF7274D4F}"/>
              </a:ext>
            </a:extLst>
          </p:cNvPr>
          <p:cNvSpPr/>
          <p:nvPr/>
        </p:nvSpPr>
        <p:spPr>
          <a:xfrm>
            <a:off x="6858000" y="1524000"/>
            <a:ext cx="4572000" cy="3429000"/>
          </a:xfrm>
          <a:prstGeom prst="rect">
            <a:avLst/>
          </a:prstGeom>
          <a:noFill/>
          <a:ln w="25400" cap="flat" cmpd="sng" algn="ctr">
            <a:solidFill>
              <a:srgbClr val="10B981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0A79FA5-01E8-14CF-BE93-53552AD3775A}"/>
              </a:ext>
            </a:extLst>
          </p:cNvPr>
          <p:cNvSpPr/>
          <p:nvPr/>
        </p:nvSpPr>
        <p:spPr>
          <a:xfrm>
            <a:off x="6858000" y="5143500"/>
            <a:ext cx="4572000" cy="825500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501750C-1201-DEE4-6C30-4BAA5BFAF35B}"/>
              </a:ext>
            </a:extLst>
          </p:cNvPr>
          <p:cNvSpPr txBox="1"/>
          <p:nvPr/>
        </p:nvSpPr>
        <p:spPr>
          <a:xfrm>
            <a:off x="6985000" y="5232400"/>
            <a:ext cx="431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200">
                <a:solidFill>
                  <a:srgbClr val="FFFFFF"/>
                </a:solidFill>
                <a:latin typeface="Calibri" panose="020F0502020204030204" pitchFamily="34" charset="0"/>
              </a:rPr>
              <a:t>Red Inteligente de Distribucion Farmaceutica</a:t>
            </a:r>
          </a:p>
          <a:p>
            <a:r>
              <a:rPr lang="es-MX" sz="1200">
                <a:solidFill>
                  <a:srgbClr val="FFFFFF"/>
                </a:solidFill>
                <a:latin typeface="Calibri" panose="020F0502020204030204" pitchFamily="34" charset="0"/>
              </a:rPr>
              <a:t>Conexion de inventarios locales para cero quiebres</a:t>
            </a:r>
            <a:endParaRPr lang="es-EC" sz="12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3173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D0B6163-AC2E-0CEA-DB22-0B5495D94F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71A7CE7-9582-537E-34F4-A9BCAF52C602}"/>
              </a:ext>
            </a:extLst>
          </p:cNvPr>
          <p:cNvSpPr txBox="1"/>
          <p:nvPr/>
        </p:nvSpPr>
        <p:spPr>
          <a:xfrm>
            <a:off x="1016000" y="2032000"/>
            <a:ext cx="10160000" cy="10772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3200" b="1">
                <a:solidFill>
                  <a:srgbClr val="FFFFFF"/>
                </a:solidFill>
                <a:latin typeface="Calibri" panose="020F0502020204030204" pitchFamily="34" charset="0"/>
              </a:rPr>
              <a:t>"Que ningun ser querido se quede sin su medicina, y que ninguna farmacia pierda una venta."</a:t>
            </a:r>
            <a:endParaRPr lang="es-EC" sz="3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64B6102-E6B5-B4CF-51EA-08A89DA7F250}"/>
              </a:ext>
            </a:extLst>
          </p:cNvPr>
          <p:cNvSpPr txBox="1"/>
          <p:nvPr/>
        </p:nvSpPr>
        <p:spPr>
          <a:xfrm>
            <a:off x="1079500" y="3683000"/>
            <a:ext cx="10160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000">
                <a:solidFill>
                  <a:srgbClr val="0070BA"/>
                </a:solidFill>
                <a:latin typeface="Calibri" panose="020F0502020204030204" pitchFamily="34" charset="0"/>
              </a:rPr>
              <a:t>FarmaSenal: Mejora Operativa para Farmaenlace</a:t>
            </a:r>
          </a:p>
          <a:p>
            <a:endParaRPr lang="es-MX" sz="2000">
              <a:solidFill>
                <a:srgbClr val="0070BA"/>
              </a:solidFill>
              <a:latin typeface="Calibri" panose="020F0502020204030204" pitchFamily="34" charset="0"/>
            </a:endParaRPr>
          </a:p>
          <a:p>
            <a:r>
              <a:rPr lang="es-MX" sz="2000">
                <a:solidFill>
                  <a:srgbClr val="0070BA"/>
                </a:solidFill>
                <a:latin typeface="Calibri" panose="020F0502020204030204" pitchFamily="34" charset="0"/>
              </a:rPr>
              <a:t>Muchas gracias. Pasamos a la sesion de preguntas.</a:t>
            </a:r>
            <a:endParaRPr lang="es-EC" sz="2000">
              <a:solidFill>
                <a:srgbClr val="0070BA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59295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629</Words>
  <Application>Microsoft Office PowerPoint</Application>
  <PresentationFormat>Personalizado</PresentationFormat>
  <Paragraphs>80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Damian Andrade Arciniegas</dc:creator>
  <cp:lastModifiedBy>Victor Damian Andrade Arciniegas</cp:lastModifiedBy>
  <cp:revision>1</cp:revision>
  <dcterms:created xsi:type="dcterms:W3CDTF">2026-10-08T19:09:01Z</dcterms:created>
  <dcterms:modified xsi:type="dcterms:W3CDTF">2026-10-08T19:09:01Z</dcterms:modified>
</cp:coreProperties>
</file>
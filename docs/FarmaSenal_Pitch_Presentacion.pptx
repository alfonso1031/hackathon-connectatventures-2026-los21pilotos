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CE589-B549-E190-884D-C9071B338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3B3AA4-61CD-3D65-08BF-DB740A464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B9112F2-78E8-515D-F24A-B62CD9D45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04E312-EFD8-1929-06EC-5AEAE4AE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85DBD51-DDB0-4ACB-1B45-84DC4682C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45232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64FF51-176A-3532-00D7-30B28E6E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1EE25C-F422-75CF-BE48-AE053045A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9BF65A5-139B-685F-20DC-D24F5FBB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56917C3-9040-8974-245F-123B78F26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5A174E-C0AE-D0AE-FF96-3DF9D81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35381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A38AA5-326F-08A4-DE84-E6A06D765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3F41A1-340E-DD35-C93A-898F2CC3E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1F902B-C189-7470-FD20-011146399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1FBD0D-C192-C6C8-3C20-34CDA2B4A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8525612-8276-225C-F8C4-73D13FF1F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5172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D1F739-2EE5-A26B-A182-D34D52E9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64D488-DA36-EC9E-DC01-B96FF93E8A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2275CBE-42DE-F69C-A51A-F1C2479DFE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A755C3-E5AC-91F6-C6B8-C424B8E30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8FDEF29-E022-4465-284D-AFC9E056C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45D0A4A-45F1-5207-8711-0CF30BC6B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39178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B59DB1-EF2E-86DF-FE9D-B44C5195B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AE209E-6AC4-4CB7-4FB3-6C25C5A6A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87298C-6808-E160-F8BE-6A270BD88D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4E5C4E6-B93A-4F68-A947-3811D14749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C2C6B27-AE99-69CE-7876-AE45115905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02EF343-2F0B-6E60-F248-5A0DBD20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6EDA59D-21CC-E05E-851B-6DA911A98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A7BCBB8-D8F7-9C86-F55D-CCDDC266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3729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AB86AD-EAFB-5509-760A-8A1F1DF79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1C9BAE6-DA0B-A1FB-6CDB-CB3F141A9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4264F3C-2C6F-39AA-6D78-AACA79D68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1D9D3F7-9CC6-AB4F-5BBD-6268401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23453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DE1A686-8D42-5D57-66E5-EF9B3F90E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DF6B127-9596-E09C-6F6C-B98929BD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6448E6-0EFB-266E-7A4C-22D47B4B8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5091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9C435-E6E9-D164-9BFD-BAD5EED0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C2A830-5733-4313-5F61-84B306CE3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A369D3-FF62-03B8-891F-7933406DE2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D0E02FB-87DA-DE2C-743F-CA5D8D810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C07282D-D580-FDCD-F314-FBD393DA7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D711A0C-0355-D756-1DED-21F50FC20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77824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7E27DF-283F-923B-3DF3-2EA3F1D3C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A7BBB3F-E5AE-883E-A595-62A80156AA6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AD0FDF-AB72-4FF3-5492-30904899C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3DD8369-BEFD-38EC-1465-5019A56CA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08DA27D-EA23-72C3-55A7-FA25CB03C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A5BC25-10DD-6060-5D72-FEA3EDA86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22885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F4C18-06DE-8A21-C389-3FDFF7670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4F0C640-E98C-1F4F-AA06-40D23952A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CD34B4-57AC-2FB8-C8BB-9C985C705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D1B5C6-486E-0613-5883-E797E5D2D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6D9B44-DF43-AC0A-3AEB-C5B098DCA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681956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1C72939-C173-ADA6-7F21-71C36BDA3E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51DFBF1-8553-6FD7-EE2F-D4EE4B4826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FDC4CA-A60F-A0CF-D1B7-5DD1D956B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0442A5-606E-03E8-E68C-C025C9231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548E83E-E931-D781-E2DA-5ECF4074C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79373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FC07939-265E-C67D-4289-48CF2E2E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E61F7A-7A7C-A8AB-0519-C94ED8DE0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852FE3-0860-FE55-DE3B-A85F03629E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6522CC-1677-4567-9825-52B108A01684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A1468F-A94A-4D2E-AB9C-13B54AFB2C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49342C-0A0B-3535-AB60-41A15DB54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25716-C9CD-4922-9EEA-B1CBFD816F36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56732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A799B5B-D17B-B220-8849-18E9DCCD8D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D1D39EE-8624-4F20-1954-F1860858DBE0}"/>
              </a:ext>
            </a:extLst>
          </p:cNvPr>
          <p:cNvSpPr/>
          <p:nvPr/>
        </p:nvSpPr>
        <p:spPr>
          <a:xfrm>
            <a:off x="889000" y="1778000"/>
            <a:ext cx="76200" cy="21590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7A94858-7DBD-E323-E753-E50539D29CBA}"/>
              </a:ext>
            </a:extLst>
          </p:cNvPr>
          <p:cNvSpPr txBox="1"/>
          <p:nvPr/>
        </p:nvSpPr>
        <p:spPr>
          <a:xfrm>
            <a:off x="1143000" y="1651000"/>
            <a:ext cx="101600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5200" b="1">
                <a:solidFill>
                  <a:srgbClr val="FFFFFF"/>
                </a:solidFill>
                <a:latin typeface="Calibri" panose="020F0502020204030204" pitchFamily="34" charset="0"/>
              </a:rPr>
              <a:t>FarmaSenal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697DF09-C770-DFC3-D652-630C53536A2D}"/>
              </a:ext>
            </a:extLst>
          </p:cNvPr>
          <p:cNvSpPr txBox="1"/>
          <p:nvPr/>
        </p:nvSpPr>
        <p:spPr>
          <a:xfrm>
            <a:off x="1206500" y="2794000"/>
            <a:ext cx="1016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Inteligencia Geoespacial para la Cadena de Salud y Abastecimiento</a:t>
            </a:r>
            <a:endParaRPr lang="es-EC" sz="2000">
              <a:solidFill>
                <a:srgbClr val="0070BA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F5E085C-02A9-11D4-B54D-E38EAA16264A}"/>
              </a:ext>
            </a:extLst>
          </p:cNvPr>
          <p:cNvSpPr txBox="1"/>
          <p:nvPr/>
        </p:nvSpPr>
        <p:spPr>
          <a:xfrm>
            <a:off x="1206500" y="4064000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Hackathon ConnectatVentures 2026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Reto: Farmaenlace y BYD  |  Equipo: Los 21 Pilotos</a:t>
            </a:r>
            <a:endParaRPr lang="es-EC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89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FD99BA4-6DD9-695B-2AE6-2EDF2904FE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EB462A2-EC89-3D4E-E632-9ABCF601F939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63CBB70-09D0-A5BC-011D-A8A8DD92501A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2600" b="1">
                <a:solidFill>
                  <a:srgbClr val="0F2042"/>
                </a:solidFill>
                <a:latin typeface="Calibri" panose="020F0502020204030204" pitchFamily="34" charset="0"/>
              </a:rPr>
              <a:t>Imaginemos a Don Jose...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16E513A-D8E3-CE0D-4547-C3E1AEB3A2DE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La realidad humana detras de la percha vacia y el costo de la fuga de clientes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0324ADF-E2D0-79FE-2C3E-B36B1CB44BFA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 y BYD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1C44C72-0598-AFF3-9DFB-FA70E741DB7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24000"/>
            <a:ext cx="4572000" cy="3429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8D321282-BB29-5577-4AE0-BCCBFFE86833}"/>
              </a:ext>
            </a:extLst>
          </p:cNvPr>
          <p:cNvSpPr/>
          <p:nvPr/>
        </p:nvSpPr>
        <p:spPr>
          <a:xfrm>
            <a:off x="762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0070BA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96BF80D-3146-A64A-07AC-B6862D9B0342}"/>
              </a:ext>
            </a:extLst>
          </p:cNvPr>
          <p:cNvSpPr/>
          <p:nvPr/>
        </p:nvSpPr>
        <p:spPr>
          <a:xfrm>
            <a:off x="5715000" y="1524000"/>
            <a:ext cx="5715000" cy="444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A3883B5-4025-A9FB-4A59-601CF9ED03CD}"/>
              </a:ext>
            </a:extLst>
          </p:cNvPr>
          <p:cNvSpPr txBox="1"/>
          <p:nvPr/>
        </p:nvSpPr>
        <p:spPr>
          <a:xfrm>
            <a:off x="5969000" y="1714500"/>
            <a:ext cx="5207000" cy="279307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Pensemos en alguien querido: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Camina a su farmacia de confianza por sus medicinas diarias de la presion o dolor (Losartan, Paracetamol).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La respuesta en mostrador: 'Se termino, nos llega la proxima semana'.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La Brecha Digital Real: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El adulto mayor no usa apps ni e-commerce; el 98% compra en el canal fisico presencial.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El Costo para Farmaenlace: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&gt; 50% de clientes compra una sola vez (fuga a la competencia).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Se destruye el Valor de Vida (LTV) del paciente cronico.</a:t>
            </a:r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240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B1FA349-6FBB-44B6-768A-F484B2A139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E6C3F9B-94CE-1939-8ED8-D5DB8ED9882C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4D259F2-58D6-005F-8857-FAE5B2631991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Por que ocurre? Fallas del Abastecimiento Tradicional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1FD4C5-9607-8F32-AEF5-36448435719D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El bache logistico de 24-48h y el aislamiento territorial entre farmacias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1B0757B-4AC8-C66C-7C62-61756AE3AD05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 y BYD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0CF1D8E-BA28-58D8-8B8C-65CB92DAD893}"/>
              </a:ext>
            </a:extLst>
          </p:cNvPr>
          <p:cNvSpPr/>
          <p:nvPr/>
        </p:nvSpPr>
        <p:spPr>
          <a:xfrm>
            <a:off x="762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30D3A2C-A113-BED5-B5E9-ECE8C9D9B044}"/>
              </a:ext>
            </a:extLst>
          </p:cNvPr>
          <p:cNvSpPr txBox="1"/>
          <p:nvPr/>
        </p:nvSpPr>
        <p:spPr>
          <a:xfrm>
            <a:off x="952500" y="1841500"/>
            <a:ext cx="2921000" cy="166199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0F2042"/>
                </a:solidFill>
                <a:latin typeface="Calibri" panose="020F0502020204030204" pitchFamily="34" charset="0"/>
              </a:rPr>
              <a:t>1. Modelo Reactivo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La reposicion se ordena tarde: solo cuando el estante ya esta vacio o cruzo minimos criticos.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No anticipa picos de consumo local.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8B90502-D698-C3C6-5241-5E8D63974D62}"/>
              </a:ext>
            </a:extLst>
          </p:cNvPr>
          <p:cNvSpPr/>
          <p:nvPr/>
        </p:nvSpPr>
        <p:spPr>
          <a:xfrm>
            <a:off x="4445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2CCCB85-B7BE-7139-8F84-49C5B2CC3DAF}"/>
              </a:ext>
            </a:extLst>
          </p:cNvPr>
          <p:cNvSpPr txBox="1"/>
          <p:nvPr/>
        </p:nvSpPr>
        <p:spPr>
          <a:xfrm>
            <a:off x="4635500" y="1841500"/>
            <a:ext cx="2921000" cy="187743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E11D48"/>
                </a:solidFill>
                <a:latin typeface="Calibri" panose="020F0502020204030204" pitchFamily="34" charset="0"/>
              </a:rPr>
              <a:t>2. Bache Logistico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Entre emitir la orden a bodega central, alistar el despacho y transportar el producto transcurren 24 a 48 horas.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Ventana ciega con percha vacia.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CB960CF-0150-BB67-6D3F-21D14852B4FB}"/>
              </a:ext>
            </a:extLst>
          </p:cNvPr>
          <p:cNvSpPr/>
          <p:nvPr/>
        </p:nvSpPr>
        <p:spPr>
          <a:xfrm>
            <a:off x="8128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E754962-081A-1DD4-DB02-619FDB96D09C}"/>
              </a:ext>
            </a:extLst>
          </p:cNvPr>
          <p:cNvSpPr txBox="1"/>
          <p:nvPr/>
        </p:nvSpPr>
        <p:spPr>
          <a:xfrm>
            <a:off x="8318500" y="1841500"/>
            <a:ext cx="2921000" cy="187743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0070BA"/>
                </a:solidFill>
                <a:latin typeface="Calibri" panose="020F0502020204030204" pitchFamily="34" charset="0"/>
              </a:rPr>
              <a:t>3. Aislamiento Local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Dos farmacias en el mismo sector (a 10 minutos de distancia) no se comunican operativamente.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Una sufre quiebre mientras la otra tiene excedentes en riesgo de vencer.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0685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7D669B3-C5A6-8570-84B2-48388244C52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9BD9B29-5B33-7356-6CCE-77D3C4EA6F19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C97B78B-16D2-C49D-CD9E-9E6844316063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FarmaSenal: Inteligencia Geoespacial en Vivo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E38F017-102D-F69A-1598-1C761FA699AB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Deteccion preventiva y semaforo de demanda para balancear inventario en tiempo real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155545-7C2B-84DE-46B0-17A0A745E9C4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 y BYD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243AD66-8806-0C6C-13D0-E077C7B0DEC4}"/>
              </a:ext>
            </a:extLst>
          </p:cNvPr>
          <p:cNvSpPr/>
          <p:nvPr/>
        </p:nvSpPr>
        <p:spPr>
          <a:xfrm>
            <a:off x="762000" y="1524000"/>
            <a:ext cx="6096000" cy="431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999C6D1-A57D-67A2-D590-6758F6B68CAD}"/>
              </a:ext>
            </a:extLst>
          </p:cNvPr>
          <p:cNvSpPr txBox="1"/>
          <p:nvPr/>
        </p:nvSpPr>
        <p:spPr>
          <a:xfrm>
            <a:off x="1016000" y="1714500"/>
            <a:ext cx="5588000" cy="31085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Como funciona el motor:</a:t>
            </a:r>
          </a:p>
          <a:p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- Ventana Movil Predictiva: Compara los ultimos 30 dias vs la linea base historica de 90 dias.</a:t>
            </a:r>
          </a:p>
          <a:p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- Semaforo Explicable por Sector:</a:t>
            </a: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  * Amarillo: Alza observada (+50% demanda diaria).</a:t>
            </a: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  * Rojo: Alza critica (+100% demanda diaria).</a:t>
            </a:r>
          </a:p>
          <a:p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- Filtro por Categorias Criticas: Analgesicos, Cardiovasculares y Respiratorios.</a:t>
            </a:r>
          </a:p>
          <a:p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400">
                <a:solidFill>
                  <a:srgbClr val="1E293B"/>
                </a:solidFill>
                <a:latin typeface="Calibri" panose="020F0502020204030204" pitchFamily="34" charset="0"/>
              </a:rPr>
              <a:t>- Recomendacion de Traslado: Identifica farmacias cercanas con excedente para reabastecer antes de agotar stock.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ADA2DAA-E8DE-28E5-A3F2-7545EEC3D64A}"/>
              </a:ext>
            </a:extLst>
          </p:cNvPr>
          <p:cNvSpPr/>
          <p:nvPr/>
        </p:nvSpPr>
        <p:spPr>
          <a:xfrm>
            <a:off x="7239000" y="1524000"/>
            <a:ext cx="4191000" cy="431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0192600-D743-687C-D134-5995C2246549}"/>
              </a:ext>
            </a:extLst>
          </p:cNvPr>
          <p:cNvSpPr txBox="1"/>
          <p:nvPr/>
        </p:nvSpPr>
        <p:spPr>
          <a:xfrm>
            <a:off x="7493000" y="1905000"/>
            <a:ext cx="3683000" cy="227754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200" b="1">
                <a:solidFill>
                  <a:srgbClr val="0070BA"/>
                </a:solidFill>
                <a:latin typeface="Calibri" panose="020F0502020204030204" pitchFamily="34" charset="0"/>
              </a:rPr>
              <a:t>DEMO EN VIVO</a:t>
            </a:r>
          </a:p>
          <a:p>
            <a:endParaRPr lang="es-MX" sz="1500">
              <a:solidFill>
                <a:srgbClr val="FFFFFF"/>
              </a:solidFill>
              <a:latin typeface="Calibri" panose="020F0502020204030204" pitchFamily="34" charset="0"/>
            </a:endParaRP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[Paso al Dashboard]</a:t>
            </a:r>
          </a:p>
          <a:p>
            <a:endParaRPr lang="es-MX" sz="1500">
              <a:solidFill>
                <a:srgbClr val="FFFFFF"/>
              </a:solidFill>
              <a:latin typeface="Calibri" panose="020F0502020204030204" pitchFamily="34" charset="0"/>
            </a:endParaRP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- Mapa interactivo Leaflet</a:t>
            </a: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- 100 farmacias geolocalizadas</a:t>
            </a: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- Alertas dinamicas en tiempo real</a:t>
            </a: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- API Python + React Vite</a:t>
            </a:r>
          </a:p>
          <a:p>
            <a:r>
              <a:rPr lang="es-MX" sz="1500">
                <a:solidFill>
                  <a:srgbClr val="FFFFFF"/>
                </a:solidFill>
                <a:latin typeface="Calibri" panose="020F0502020204030204" pitchFamily="34" charset="0"/>
              </a:rPr>
              <a:t>- Listo para AWS Lambda y Vendix POS</a:t>
            </a:r>
            <a:endParaRPr lang="es-EC" sz="15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13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F47162D-CC82-4A40-81AA-CC2D478C05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30D972A-3986-8EF7-64C7-9FFA2AF60EEA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03CE488-EF21-042B-8714-770717C1D97A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Diferenciacion, Sinergia BYD e Impacto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0FEE8EA-B7F9-348C-42FF-15552B249609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Logistica electrica de proximidad y retorno de inversion medible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D9E9B34-5A3B-A49C-9FAB-2492E06B09F7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 y BYD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1FF2C4-B64B-F3D3-41CB-E6B7D2FE54BE}"/>
              </a:ext>
            </a:extLst>
          </p:cNvPr>
          <p:cNvSpPr/>
          <p:nvPr/>
        </p:nvSpPr>
        <p:spPr>
          <a:xfrm>
            <a:off x="762000" y="1524000"/>
            <a:ext cx="5715000" cy="4445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0977A77-5F4A-6548-6FE4-B4D911CEFE45}"/>
              </a:ext>
            </a:extLst>
          </p:cNvPr>
          <p:cNvSpPr txBox="1"/>
          <p:nvPr/>
        </p:nvSpPr>
        <p:spPr>
          <a:xfrm>
            <a:off x="1016000" y="1714500"/>
            <a:ext cx="5207000" cy="258532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Novedad frente a Power BI/Qlik: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No es un reporte forense mensual del pasado.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Es un motor OPERATIVO en tiempo real que previene quiebres hoy.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Sinergia Verde con BYD: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Traslados de proximidad entre farmacias con vehiculos electricos BYD.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Integracion con la red de +150 puntos de carga.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Menor costo por kilometro y cero emisiones.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Impacto Medible: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Ecuacion de ahorro: Reduccion de ventas perdidas + Ahorro en mermas por vencimiento + Eficiencia en fletes.</a:t>
            </a:r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8B61973-43EC-C0BE-0D8C-9750A1DF34C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524000"/>
            <a:ext cx="4572000" cy="34290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AF95DF19-E9B1-99D2-C3C1-A275FB03A6C4}"/>
              </a:ext>
            </a:extLst>
          </p:cNvPr>
          <p:cNvSpPr/>
          <p:nvPr/>
        </p:nvSpPr>
        <p:spPr>
          <a:xfrm>
            <a:off x="6858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10B98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E441F6D-CB23-0029-7895-6148601EAD6D}"/>
              </a:ext>
            </a:extLst>
          </p:cNvPr>
          <p:cNvSpPr/>
          <p:nvPr/>
        </p:nvSpPr>
        <p:spPr>
          <a:xfrm>
            <a:off x="6858000" y="5143500"/>
            <a:ext cx="4572000" cy="8255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CFE2CEE-2147-BA8A-7A7E-723B0A0B7C47}"/>
              </a:ext>
            </a:extLst>
          </p:cNvPr>
          <p:cNvSpPr txBox="1"/>
          <p:nvPr/>
        </p:nvSpPr>
        <p:spPr>
          <a:xfrm>
            <a:off x="6985000" y="5232400"/>
            <a:ext cx="431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Calibri" panose="020F0502020204030204" pitchFamily="34" charset="0"/>
              </a:rPr>
              <a:t>Movilidad Limpia para la Red de Salud</a:t>
            </a:r>
          </a:p>
          <a:p>
            <a:r>
              <a:rPr lang="es-MX" sz="1200">
                <a:solidFill>
                  <a:srgbClr val="FFFFFF"/>
                </a:solidFill>
                <a:latin typeface="Calibri" panose="020F0502020204030204" pitchFamily="34" charset="0"/>
              </a:rPr>
              <a:t>Conexion operativa entre Farmacias y Flota BYD</a:t>
            </a:r>
            <a:endParaRPr lang="es-EC" sz="12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353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39DB0EB-7061-436D-2112-B7E78B47DA9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7682D6A-122A-38D6-9B31-6B861F18046C}"/>
              </a:ext>
            </a:extLst>
          </p:cNvPr>
          <p:cNvSpPr txBox="1"/>
          <p:nvPr/>
        </p:nvSpPr>
        <p:spPr>
          <a:xfrm>
            <a:off x="1016000" y="2032000"/>
            <a:ext cx="10160000" cy="10772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3200" b="1">
                <a:solidFill>
                  <a:srgbClr val="FFFFFF"/>
                </a:solidFill>
                <a:latin typeface="Calibri" panose="020F0502020204030204" pitchFamily="34" charset="0"/>
              </a:rPr>
              <a:t>"Que ningun ser querido se quede sin su medicina, y que ninguna farmacia pierda una venta."</a:t>
            </a:r>
            <a:endParaRPr lang="es-EC" sz="3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E63CDAC-55DE-21C1-92B8-C2666AA80A98}"/>
              </a:ext>
            </a:extLst>
          </p:cNvPr>
          <p:cNvSpPr txBox="1"/>
          <p:nvPr/>
        </p:nvSpPr>
        <p:spPr>
          <a:xfrm>
            <a:off x="1079500" y="3683000"/>
            <a:ext cx="10160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FarmaSenal: Inteligencia Geoespacial para Farmaenlace y BYD</a:t>
            </a:r>
          </a:p>
          <a:p>
            <a:endParaRPr lang="es-MX" sz="2000">
              <a:solidFill>
                <a:srgbClr val="0070BA"/>
              </a:solidFill>
              <a:latin typeface="Calibri" panose="020F0502020204030204" pitchFamily="34" charset="0"/>
            </a:endParaRPr>
          </a:p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Muchas gracias. Pasamos a la sesion de preguntas.</a:t>
            </a:r>
            <a:endParaRPr lang="es-EC" sz="2000">
              <a:solidFill>
                <a:srgbClr val="0070BA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5615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</Words>
  <Application>Microsoft Office PowerPoint</Application>
  <PresentationFormat>Personalizado</PresentationFormat>
  <Paragraphs>79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Damian Andrade Arciniegas</dc:creator>
  <cp:lastModifiedBy>Victor Damian Andrade Arciniegas</cp:lastModifiedBy>
  <cp:revision>1</cp:revision>
  <dcterms:created xsi:type="dcterms:W3CDTF">2026-10-08T18:49:10Z</dcterms:created>
  <dcterms:modified xsi:type="dcterms:W3CDTF">2026-10-08T18:49:10Z</dcterms:modified>
</cp:coreProperties>
</file>
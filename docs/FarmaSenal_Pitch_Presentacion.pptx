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0B57C-A357-1F26-4323-A984E2943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A81123-34C8-E3C4-1F7F-0726396E7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08C69F-450C-4AA3-7A31-EAF195B5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91CE02-D463-D0D8-7A30-8A19BC62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EF42CE-1CBB-949F-67EE-AA17EF1A8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7893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D5F86-11EB-260A-E218-0FBD786BF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0E60FC-B479-6399-E3C8-A7D4AE8A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09B2F1-0E59-6498-37BD-96B35DDF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01227D-34CC-4ADF-4DFE-63FC22D6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940433-6B5C-A097-9EDF-23D02B4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6685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4096C-59A5-A8BE-5FB3-70033C02C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1E4E62-7D97-1C8A-2F85-1CEB4DBF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6295BD-D080-D8AE-00B6-96D7F317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828CBE-3261-DCB6-8160-B6B4F390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10D651-F863-D38F-C72B-B7051230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8945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8C380-64A6-E7E9-6575-5EDF937E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18BC8-0243-B469-4A5F-EF6B516D4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B9CDED-E80D-7C37-828D-6D5F0766E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544272-115A-AD29-D04D-AB51A7C65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80AFE7-8F7C-BB1F-184E-97D48DAF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67F594-FCE9-27DD-0EE1-71122EBC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841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5BC5E-9826-0EC2-FAA9-71E914BFA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4965F0-2CE1-5CDD-2048-978D0AFDC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6875E7-C524-61E7-99EA-99F606939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36E7F2-E4A0-E410-3D31-A4BC9531AA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01C1BA-3D53-C82F-7701-060F45223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620BAE9-013E-F7EF-C062-CE23A30B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2E6B26-2C9D-F946-6FD4-9E7B2CDC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4715A0B-4CC5-B2B2-4210-7DCCFE62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6641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34700-64DB-FBB9-281C-42316A89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1F3E9A-9413-41F5-156A-B81E15582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89E10E-B223-B6FC-8DF1-6CFA9FDE3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3C30A0-3B71-DA9A-1B7B-C68D1DED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68687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F1EFA6-9CDB-29D7-43D1-5EA937606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05A209-8CF6-DE08-86DB-5DF4B8ECF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8D3AA5-CDA7-3ED4-D931-C6788EA3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4516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57AB0-EB2B-E289-FE66-ABFDF4B48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18DE5B-53C7-BDD9-C661-83BD2D9D9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769172-DA29-DDC2-A4AB-1B2687AA8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0B6284-FF61-DF45-C9A4-3BAFA563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FDA8A7-5674-E2F5-04ED-9CF1B68E8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87A5DC-9C98-E135-AF0B-594CED3D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1403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E16ED-6140-343E-50C9-0CAEA908E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CFC1DAC-8123-B42A-9885-A19F27E4F31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F91BA9-73EF-FE99-E94E-CA5D48990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E29DFE-4F8C-5B0D-1996-5E6A30A0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F14871-8A3B-60DA-DB21-F2BF9C99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9EAE86-CE83-B4D8-A720-9F03142A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6015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3C919-6AB7-7318-5BC9-B4C48E8A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9ABE5A-6BBE-8AEE-0929-DF52E20E2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F4BE8D-92FF-87DC-612E-CA9AB664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2396DF-A7DF-1D5F-7DE2-1812CCF3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42B9C6-6B9A-FFD6-8CE3-357D43D9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4783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F73BAE-3B54-8C20-09D5-678637F31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F9C441-748D-6F32-9046-E1B36C362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3A61B7-C45E-846E-0F9D-0FD8F2FD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B63A8-5ED5-26D0-24D2-99B86BDD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CB4AD4-8970-89CF-C8C4-508E4475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9452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1D44E1-9A19-7819-BF08-6F4A0267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E88AF7-325C-2C7C-EFFF-370CE2A9B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F9FD51-7A32-2873-C508-68DACA922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39879-592C-4C4D-985F-1D57C6FF2592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198120-B92F-C176-97B4-8FCD51D23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2799AC-6ABB-EFD8-DC63-ADBC52E42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8C3AA-9817-4BD1-8355-5466953FF7E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7762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2B3063F-C5D6-5D74-2BB7-F4BC350E41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04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7F2682E-04C6-0CB3-CC5C-B00D6B6AB8F7}"/>
              </a:ext>
            </a:extLst>
          </p:cNvPr>
          <p:cNvSpPr/>
          <p:nvPr/>
        </p:nvSpPr>
        <p:spPr>
          <a:xfrm>
            <a:off x="762000" y="1778000"/>
            <a:ext cx="76200" cy="2286000"/>
          </a:xfrm>
          <a:prstGeom prst="rect">
            <a:avLst/>
          </a:prstGeom>
          <a:solidFill>
            <a:srgbClr val="0070B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3DD823-6F7B-F53E-4471-055E075C77AE}"/>
              </a:ext>
            </a:extLst>
          </p:cNvPr>
          <p:cNvSpPr txBox="1"/>
          <p:nvPr/>
        </p:nvSpPr>
        <p:spPr>
          <a:xfrm>
            <a:off x="1016000" y="1651000"/>
            <a:ext cx="10160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sz="5200" b="1">
                <a:solidFill>
                  <a:srgbClr val="FFFFFF"/>
                </a:solidFill>
                <a:latin typeface="Calibri" panose="020F0502020204030204" pitchFamily="34" charset="0"/>
              </a:rPr>
              <a:t>FarmaSenal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E2D457F-1704-2B9A-D312-03D6B69143A9}"/>
              </a:ext>
            </a:extLst>
          </p:cNvPr>
          <p:cNvSpPr txBox="1"/>
          <p:nvPr/>
        </p:nvSpPr>
        <p:spPr>
          <a:xfrm>
            <a:off x="1079500" y="27940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000">
                <a:solidFill>
                  <a:srgbClr val="0070BA"/>
                </a:solidFill>
                <a:latin typeface="Calibri" panose="020F0502020204030204" pitchFamily="34" charset="0"/>
              </a:rPr>
              <a:t>Inteligencia Geoespacial para la Cadena de Salud y Abastecimiento</a:t>
            </a:r>
            <a:endParaRPr lang="es-EC" sz="2000">
              <a:solidFill>
                <a:srgbClr val="0070B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80B91F-2A96-19CF-6D05-190240326C7F}"/>
              </a:ext>
            </a:extLst>
          </p:cNvPr>
          <p:cNvSpPr txBox="1"/>
          <p:nvPr/>
        </p:nvSpPr>
        <p:spPr>
          <a:xfrm>
            <a:off x="1079500" y="4191000"/>
            <a:ext cx="10160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500">
                <a:solidFill>
                  <a:srgbClr val="FFFFFF"/>
                </a:solidFill>
                <a:latin typeface="Calibri" panose="020F0502020204030204" pitchFamily="34" charset="0"/>
              </a:rPr>
              <a:t>Hackathon ConnectatVentures 2026</a:t>
            </a:r>
          </a:p>
          <a:p>
            <a:r>
              <a:rPr lang="es-MX" sz="1500">
                <a:solidFill>
                  <a:srgbClr val="FFFFFF"/>
                </a:solidFill>
                <a:latin typeface="Calibri" panose="020F0502020204030204" pitchFamily="34" charset="0"/>
              </a:rPr>
              <a:t>Reto: Farmaenlace y BYD</a:t>
            </a:r>
          </a:p>
          <a:p>
            <a:r>
              <a:rPr lang="es-MX" sz="1500">
                <a:solidFill>
                  <a:srgbClr val="FFFFFF"/>
                </a:solidFill>
                <a:latin typeface="Calibri" panose="020F0502020204030204" pitchFamily="34" charset="0"/>
              </a:rPr>
              <a:t>Equipo: Los 21 Pilotos</a:t>
            </a:r>
            <a:endParaRPr lang="es-EC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67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855484C-20A6-FACC-7BF2-7CCE412302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F8CFFC4-77FC-CC17-E3F5-F680AA3F622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70B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0A5C28-17E0-122B-ADC6-C9D6F1D81566}"/>
              </a:ext>
            </a:extLst>
          </p:cNvPr>
          <p:cNvSpPr txBox="1"/>
          <p:nvPr/>
        </p:nvSpPr>
        <p:spPr>
          <a:xfrm>
            <a:off x="762000" y="444500"/>
            <a:ext cx="1066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C" sz="2600" b="1">
                <a:solidFill>
                  <a:srgbClr val="0F2042"/>
                </a:solidFill>
                <a:latin typeface="Calibri" panose="020F0502020204030204" pitchFamily="34" charset="0"/>
              </a:rPr>
              <a:t>Imaginemos a Don Jose...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12F4CE-4793-124B-7539-96E5F2D91B49}"/>
              </a:ext>
            </a:extLst>
          </p:cNvPr>
          <p:cNvSpPr txBox="1"/>
          <p:nvPr/>
        </p:nvSpPr>
        <p:spPr>
          <a:xfrm>
            <a:off x="762000" y="1016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solidFill>
                  <a:srgbClr val="64748B"/>
                </a:solidFill>
                <a:latin typeface="Calibri" panose="020F0502020204030204" pitchFamily="34" charset="0"/>
              </a:rPr>
              <a:t>Una realidad que toca a nuestras familias y a miles de adultos mayores todos los dias</a:t>
            </a:r>
            <a:endParaRPr lang="es-EC" sz="14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6AAFCDC-CC6E-E9CB-E387-7AF52C297251}"/>
              </a:ext>
            </a:extLst>
          </p:cNvPr>
          <p:cNvSpPr txBox="1"/>
          <p:nvPr/>
        </p:nvSpPr>
        <p:spPr>
          <a:xfrm>
            <a:off x="762000" y="6350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4748B"/>
                </a:solidFill>
                <a:latin typeface="Calibri" panose="020F0502020204030204" pitchFamily="34" charset="0"/>
              </a:rPr>
              <a:t>FarmaSenal | Reto Farmaenlace y BYD - Equipo Los 21 Pilotos</a:t>
            </a:r>
            <a:endParaRPr lang="es-EC" sz="10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250CA96-1A62-ED6F-A234-31A5122236C8}"/>
              </a:ext>
            </a:extLst>
          </p:cNvPr>
          <p:cNvSpPr/>
          <p:nvPr/>
        </p:nvSpPr>
        <p:spPr>
          <a:xfrm>
            <a:off x="762000" y="1651000"/>
            <a:ext cx="5207000" cy="43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DCA025-5F42-7DED-A155-14FCF634893F}"/>
              </a:ext>
            </a:extLst>
          </p:cNvPr>
          <p:cNvSpPr txBox="1"/>
          <p:nvPr/>
        </p:nvSpPr>
        <p:spPr>
          <a:xfrm>
            <a:off x="1016000" y="1905000"/>
            <a:ext cx="4699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Pensemos en alguien querido: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Un padre, una madre o un abuelo que toma medicinas para la presion o dolor cronico (Losartan, Paracetamol).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Camina cuatro cuadras con esfuerzo hasta su farmacia de confianza.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Al llegar al mostrador escucha: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'Se nos termino; nos llega la proxima semana'.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Frustracion e incertidumbre: un paciente cronico no puede esperar.</a:t>
            </a:r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ECEE587-EC71-1207-938B-D4A919DE6E9C}"/>
              </a:ext>
            </a:extLst>
          </p:cNvPr>
          <p:cNvSpPr/>
          <p:nvPr/>
        </p:nvSpPr>
        <p:spPr>
          <a:xfrm>
            <a:off x="6223000" y="1651000"/>
            <a:ext cx="5207000" cy="43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3C54BD-C3F0-CD76-3C78-0B691DF805A7}"/>
              </a:ext>
            </a:extLst>
          </p:cNvPr>
          <p:cNvSpPr txBox="1"/>
          <p:nvPr/>
        </p:nvSpPr>
        <p:spPr>
          <a:xfrm>
            <a:off x="6477000" y="1905000"/>
            <a:ext cx="4699000" cy="26776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La Brecha Digital en Salud: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Los adultos mayores NO navegan aplicaciones moviles complejas, carritos de compra ni pasarelas de pago.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Su unica interfaz con la salud es el MOSTRADOR FISICO.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Mas del 97% de las compras farmaceuticas ocurren en el canal presencial.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Si el producto no esta en percha, la salud del paciente queda desprotegida.</a:t>
            </a:r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95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3DE44D5-3FF2-4E6F-7F9C-D7299C670E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6DCB83C-E653-6433-8C6E-C3ABBD0A8D9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70B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443CE80-7AE6-2B69-5FAA-F755C723642A}"/>
              </a:ext>
            </a:extLst>
          </p:cNvPr>
          <p:cNvSpPr txBox="1"/>
          <p:nvPr/>
        </p:nvSpPr>
        <p:spPr>
          <a:xfrm>
            <a:off x="762000" y="444500"/>
            <a:ext cx="1066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600" b="1">
                <a:solidFill>
                  <a:srgbClr val="0F2042"/>
                </a:solidFill>
                <a:latin typeface="Calibri" panose="020F0502020204030204" pitchFamily="34" charset="0"/>
              </a:rPr>
              <a:t>El Quiebre de Stock Destruye la Fidelizacion</a:t>
            </a:r>
            <a:endParaRPr lang="es-EC" sz="2600" b="1">
              <a:solidFill>
                <a:srgbClr val="0F204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3907D8-F24E-3258-6AAE-D2F777E43A67}"/>
              </a:ext>
            </a:extLst>
          </p:cNvPr>
          <p:cNvSpPr txBox="1"/>
          <p:nvPr/>
        </p:nvSpPr>
        <p:spPr>
          <a:xfrm>
            <a:off x="762000" y="1016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solidFill>
                  <a:srgbClr val="64748B"/>
                </a:solidFill>
                <a:latin typeface="Calibri" panose="020F0502020204030204" pitchFamily="34" charset="0"/>
              </a:rPr>
              <a:t>El impacto financiero y la fuga de clientes en la red de farmacias</a:t>
            </a:r>
            <a:endParaRPr lang="es-EC" sz="14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803BEFA-7928-4786-D254-F4F6CA255D11}"/>
              </a:ext>
            </a:extLst>
          </p:cNvPr>
          <p:cNvSpPr txBox="1"/>
          <p:nvPr/>
        </p:nvSpPr>
        <p:spPr>
          <a:xfrm>
            <a:off x="762000" y="6350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4748B"/>
                </a:solidFill>
                <a:latin typeface="Calibri" panose="020F0502020204030204" pitchFamily="34" charset="0"/>
              </a:rPr>
              <a:t>FarmaSenal | Reto Farmaenlace y BYD - Equipo Los 21 Pilotos</a:t>
            </a:r>
            <a:endParaRPr lang="es-EC" sz="10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32018A-B91C-1418-0E87-853967040C56}"/>
              </a:ext>
            </a:extLst>
          </p:cNvPr>
          <p:cNvSpPr/>
          <p:nvPr/>
        </p:nvSpPr>
        <p:spPr>
          <a:xfrm>
            <a:off x="762000" y="1651000"/>
            <a:ext cx="3302000" cy="431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AC9D0C-DE43-645F-E3B0-1D319E91A23D}"/>
              </a:ext>
            </a:extLst>
          </p:cNvPr>
          <p:cNvSpPr txBox="1"/>
          <p:nvPr/>
        </p:nvSpPr>
        <p:spPr>
          <a:xfrm>
            <a:off x="952500" y="1841500"/>
            <a:ext cx="2921000" cy="20928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3200" b="1">
                <a:solidFill>
                  <a:srgbClr val="E11D48"/>
                </a:solidFill>
                <a:latin typeface="Calibri" panose="020F0502020204030204" pitchFamily="34" charset="0"/>
              </a:rPr>
              <a:t>&gt; 50%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Clientes Unicos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En 4 de cada 5 marcas de Farmaenlace, mas de la mitad de los clientes compra una sola vez y no regresa (Dato oficial presentacion reto).</a:t>
            </a:r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8435A2E-5674-9596-B489-90308E568E47}"/>
              </a:ext>
            </a:extLst>
          </p:cNvPr>
          <p:cNvSpPr/>
          <p:nvPr/>
        </p:nvSpPr>
        <p:spPr>
          <a:xfrm>
            <a:off x="4445000" y="1651000"/>
            <a:ext cx="3302000" cy="43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A2F029E-9119-C9E8-6BF7-F4B5ABE7DF2D}"/>
              </a:ext>
            </a:extLst>
          </p:cNvPr>
          <p:cNvSpPr txBox="1"/>
          <p:nvPr/>
        </p:nvSpPr>
        <p:spPr>
          <a:xfrm>
            <a:off x="4635500" y="1841500"/>
            <a:ext cx="2921000" cy="215443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200" b="1">
                <a:solidFill>
                  <a:srgbClr val="0F2042"/>
                </a:solidFill>
                <a:latin typeface="Calibri" panose="020F0502020204030204" pitchFamily="34" charset="0"/>
              </a:rPr>
              <a:t>Destruccion de LTV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Valor de Vida Perdido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No se pierde una venta puntual de 8 o 10 dolares.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Se pierde la recurrencia anual del paciente cronico que cruza la calle y se va a la competencia.</a:t>
            </a:r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4FFD4B-80D1-3E55-BBD4-A770879DFECF}"/>
              </a:ext>
            </a:extLst>
          </p:cNvPr>
          <p:cNvSpPr/>
          <p:nvPr/>
        </p:nvSpPr>
        <p:spPr>
          <a:xfrm>
            <a:off x="8128000" y="1651000"/>
            <a:ext cx="3302000" cy="43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316FAC-2368-9142-7AB1-E5E12A0EA4A4}"/>
              </a:ext>
            </a:extLst>
          </p:cNvPr>
          <p:cNvSpPr txBox="1"/>
          <p:nvPr/>
        </p:nvSpPr>
        <p:spPr>
          <a:xfrm>
            <a:off x="8318500" y="1841500"/>
            <a:ext cx="2921000" cy="20928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3200" b="1">
                <a:solidFill>
                  <a:srgbClr val="0070BA"/>
                </a:solidFill>
                <a:latin typeface="Calibri" panose="020F0502020204030204" pitchFamily="34" charset="0"/>
              </a:rPr>
              <a:t>172.000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Transacciones Diarias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Con mas de 1.400 puntos de venta a nivel nacional, un desfase en disponibilidad representa perdidas millonarias por demanda insatisfecha.</a:t>
            </a:r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22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5CCDA7A-FF37-4BE8-2E4D-CDB3C16C2D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F6BCFD2-5D7B-ED5B-2B62-1E8B16EAA7B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70B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06CAB7-852A-6049-5532-F7B20DBF415D}"/>
              </a:ext>
            </a:extLst>
          </p:cNvPr>
          <p:cNvSpPr txBox="1"/>
          <p:nvPr/>
        </p:nvSpPr>
        <p:spPr>
          <a:xfrm>
            <a:off x="762000" y="444500"/>
            <a:ext cx="1066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600" b="1">
                <a:solidFill>
                  <a:srgbClr val="0F2042"/>
                </a:solidFill>
                <a:latin typeface="Calibri" panose="020F0502020204030204" pitchFamily="34" charset="0"/>
              </a:rPr>
              <a:t>Por que ocurre? Fallas del Abastecimiento Tradicional</a:t>
            </a:r>
            <a:endParaRPr lang="es-EC" sz="2600" b="1">
              <a:solidFill>
                <a:srgbClr val="0F204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59FDFF-C1C3-47F6-FD16-8BCAC352F6DF}"/>
              </a:ext>
            </a:extLst>
          </p:cNvPr>
          <p:cNvSpPr txBox="1"/>
          <p:nvPr/>
        </p:nvSpPr>
        <p:spPr>
          <a:xfrm>
            <a:off x="762000" y="1016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solidFill>
                  <a:srgbClr val="64748B"/>
                </a:solidFill>
                <a:latin typeface="Calibri" panose="020F0502020204030204" pitchFamily="34" charset="0"/>
              </a:rPr>
              <a:t>El bache de 24 a 48 horas y el aislamiento entre sucursales de proximidad</a:t>
            </a:r>
            <a:endParaRPr lang="es-EC" sz="14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2F03FDF-FE7A-5307-36CE-CAA42597A6AC}"/>
              </a:ext>
            </a:extLst>
          </p:cNvPr>
          <p:cNvSpPr txBox="1"/>
          <p:nvPr/>
        </p:nvSpPr>
        <p:spPr>
          <a:xfrm>
            <a:off x="762000" y="6350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4748B"/>
                </a:solidFill>
                <a:latin typeface="Calibri" panose="020F0502020204030204" pitchFamily="34" charset="0"/>
              </a:rPr>
              <a:t>FarmaSenal | Reto Farmaenlace y BYD - Equipo Los 21 Pilotos</a:t>
            </a:r>
            <a:endParaRPr lang="es-EC" sz="10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687C4B-271F-CDFC-F766-485EFDBA0A0A}"/>
              </a:ext>
            </a:extLst>
          </p:cNvPr>
          <p:cNvSpPr/>
          <p:nvPr/>
        </p:nvSpPr>
        <p:spPr>
          <a:xfrm>
            <a:off x="762000" y="1714500"/>
            <a:ext cx="5207000" cy="190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A642CE-B2EB-D5A4-1321-440FB985AFF8}"/>
              </a:ext>
            </a:extLst>
          </p:cNvPr>
          <p:cNvSpPr txBox="1"/>
          <p:nvPr/>
        </p:nvSpPr>
        <p:spPr>
          <a:xfrm>
            <a:off x="952500" y="1841500"/>
            <a:ext cx="48260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500">
                <a:solidFill>
                  <a:srgbClr val="1E293B"/>
                </a:solidFill>
                <a:latin typeface="Calibri" panose="020F0502020204030204" pitchFamily="34" charset="0"/>
              </a:rPr>
              <a:t>1. Modelo Reactivo (Tarde)</a:t>
            </a:r>
          </a:p>
          <a:p>
            <a:r>
              <a:rPr lang="es-MX" sz="1500">
                <a:solidFill>
                  <a:srgbClr val="1E293B"/>
                </a:solidFill>
                <a:latin typeface="Calibri" panose="020F0502020204030204" pitchFamily="34" charset="0"/>
              </a:rPr>
              <a:t>La orden de reposicion se genera unicamente cuando el stock en percha ya se agoto o cruzo minimos criticos.</a:t>
            </a:r>
            <a:endParaRPr lang="es-EC" sz="15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C91F6DC-A4E5-98FB-F6D6-F711928F302C}"/>
              </a:ext>
            </a:extLst>
          </p:cNvPr>
          <p:cNvSpPr/>
          <p:nvPr/>
        </p:nvSpPr>
        <p:spPr>
          <a:xfrm>
            <a:off x="6223000" y="1714500"/>
            <a:ext cx="5207000" cy="190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4F75099-8334-DF87-194E-1CA1C1E65018}"/>
              </a:ext>
            </a:extLst>
          </p:cNvPr>
          <p:cNvSpPr txBox="1"/>
          <p:nvPr/>
        </p:nvSpPr>
        <p:spPr>
          <a:xfrm>
            <a:off x="6413500" y="1841500"/>
            <a:ext cx="4826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500">
                <a:solidFill>
                  <a:srgbClr val="1E293B"/>
                </a:solidFill>
                <a:latin typeface="Calibri" panose="020F0502020204030204" pitchFamily="34" charset="0"/>
              </a:rPr>
              <a:t>2. Bache Logistico Inevitable</a:t>
            </a:r>
          </a:p>
          <a:p>
            <a:r>
              <a:rPr lang="es-MX" sz="1500">
                <a:solidFill>
                  <a:srgbClr val="1E293B"/>
                </a:solidFill>
                <a:latin typeface="Calibri" panose="020F0502020204030204" pitchFamily="34" charset="0"/>
              </a:rPr>
              <a:t>Entre emitir la orden a bodega central, alistar el despacho y transportar el producto transcurren 24 a 48 horas con percha vacia.</a:t>
            </a:r>
            <a:endParaRPr lang="es-EC" sz="15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54AB19-A075-B3AA-DB20-E6B9F9BBBC4D}"/>
              </a:ext>
            </a:extLst>
          </p:cNvPr>
          <p:cNvSpPr/>
          <p:nvPr/>
        </p:nvSpPr>
        <p:spPr>
          <a:xfrm>
            <a:off x="762000" y="3873500"/>
            <a:ext cx="10668000" cy="20955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7BEC7F1-3F16-26F1-A118-18C76515BB8E}"/>
              </a:ext>
            </a:extLst>
          </p:cNvPr>
          <p:cNvSpPr txBox="1"/>
          <p:nvPr/>
        </p:nvSpPr>
        <p:spPr>
          <a:xfrm>
            <a:off x="1016000" y="4064000"/>
            <a:ext cx="10160000" cy="12464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500">
                <a:solidFill>
                  <a:srgbClr val="1E293B"/>
                </a:solidFill>
                <a:latin typeface="Calibri" panose="020F0502020204030204" pitchFamily="34" charset="0"/>
              </a:rPr>
              <a:t>3. Aislamiento Territorial entre Farmacias Cercanas</a:t>
            </a:r>
          </a:p>
          <a:p>
            <a:endParaRPr lang="es-MX" sz="15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500">
                <a:solidFill>
                  <a:srgbClr val="1E293B"/>
                </a:solidFill>
                <a:latin typeface="Calibri" panose="020F0502020204030204" pitchFamily="34" charset="0"/>
              </a:rPr>
              <a:t>Mientras la farmacia de Don Jose esta en quiebre de stock, otra farmacia a 10 minutos en el mismo sector tiene excedentes de inventario con riesgo de caducidad.</a:t>
            </a:r>
          </a:p>
          <a:p>
            <a:r>
              <a:rPr lang="es-MX" sz="1500">
                <a:solidFill>
                  <a:srgbClr val="1E293B"/>
                </a:solidFill>
                <a:latin typeface="Calibri" panose="020F0502020204030204" pitchFamily="34" charset="0"/>
              </a:rPr>
              <a:t>Hoy esas dos sucursales no dialogan operativamente en tiempo real.</a:t>
            </a:r>
            <a:endParaRPr lang="es-EC" sz="15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22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3049C67-7BD7-1792-FB9D-7286D6E9A9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2AF24AF-9C54-D273-FA90-A46B9A768BA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70B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CC5FA0-D243-7086-8598-CCDD7193C6D9}"/>
              </a:ext>
            </a:extLst>
          </p:cNvPr>
          <p:cNvSpPr txBox="1"/>
          <p:nvPr/>
        </p:nvSpPr>
        <p:spPr>
          <a:xfrm>
            <a:off x="762000" y="444500"/>
            <a:ext cx="1066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C" sz="2600" b="1">
                <a:solidFill>
                  <a:srgbClr val="0F2042"/>
                </a:solidFill>
                <a:latin typeface="Calibri" panose="020F0502020204030204" pitchFamily="34" charset="0"/>
              </a:rPr>
              <a:t>Nuestra Solucion: FarmaSenal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DD2FF05-EFB8-F564-38DF-C58D75FD459F}"/>
              </a:ext>
            </a:extLst>
          </p:cNvPr>
          <p:cNvSpPr txBox="1"/>
          <p:nvPr/>
        </p:nvSpPr>
        <p:spPr>
          <a:xfrm>
            <a:off x="762000" y="1016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solidFill>
                  <a:srgbClr val="64748B"/>
                </a:solidFill>
                <a:latin typeface="Calibri" panose="020F0502020204030204" pitchFamily="34" charset="0"/>
              </a:rPr>
              <a:t>Motor de inteligencia geoespacial para anticipar quiebres y habilitar traslados agiles</a:t>
            </a:r>
            <a:endParaRPr lang="es-EC" sz="14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6F94C46-D465-59B8-0BD0-575F7FC5FEAC}"/>
              </a:ext>
            </a:extLst>
          </p:cNvPr>
          <p:cNvSpPr txBox="1"/>
          <p:nvPr/>
        </p:nvSpPr>
        <p:spPr>
          <a:xfrm>
            <a:off x="762000" y="6350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4748B"/>
                </a:solidFill>
                <a:latin typeface="Calibri" panose="020F0502020204030204" pitchFamily="34" charset="0"/>
              </a:rPr>
              <a:t>FarmaSenal | Reto Farmaenlace y BYD - Equipo Los 21 Pilotos</a:t>
            </a:r>
            <a:endParaRPr lang="es-EC" sz="10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4FB7A0-1D63-32C1-B789-1018F937A560}"/>
              </a:ext>
            </a:extLst>
          </p:cNvPr>
          <p:cNvSpPr/>
          <p:nvPr/>
        </p:nvSpPr>
        <p:spPr>
          <a:xfrm>
            <a:off x="762000" y="1651000"/>
            <a:ext cx="5334000" cy="431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18CCE2D-14C5-BA21-2D09-3FCED0EA0F13}"/>
              </a:ext>
            </a:extLst>
          </p:cNvPr>
          <p:cNvSpPr txBox="1"/>
          <p:nvPr/>
        </p:nvSpPr>
        <p:spPr>
          <a:xfrm>
            <a:off x="952500" y="1841500"/>
            <a:ext cx="4953000" cy="31085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C" sz="1400">
                <a:solidFill>
                  <a:srgbClr val="1E293B"/>
                </a:solidFill>
                <a:latin typeface="Calibri" panose="020F0502020204030204" pitchFamily="34" charset="0"/>
              </a:rPr>
              <a:t>Capacidades Clave de FarmaSenal:</a:t>
            </a:r>
          </a:p>
          <a:p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EC" sz="1400">
                <a:solidFill>
                  <a:srgbClr val="1E293B"/>
                </a:solidFill>
                <a:latin typeface="Calibri" panose="020F0502020204030204" pitchFamily="34" charset="0"/>
              </a:rPr>
              <a:t>- Mapa Interactivo en Vivo:</a:t>
            </a:r>
          </a:p>
          <a:p>
            <a:r>
              <a:rPr lang="es-EC" sz="1400">
                <a:solidFill>
                  <a:srgbClr val="1E293B"/>
                </a:solidFill>
                <a:latin typeface="Calibri" panose="020F0502020204030204" pitchFamily="34" charset="0"/>
              </a:rPr>
              <a:t>  Farmacias georreferenciadas con semaforo territorial.</a:t>
            </a:r>
          </a:p>
          <a:p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EC" sz="1400">
                <a:solidFill>
                  <a:srgbClr val="1E293B"/>
                </a:solidFill>
                <a:latin typeface="Calibri" panose="020F0502020204030204" pitchFamily="34" charset="0"/>
              </a:rPr>
              <a:t>- Ventana Movil Predictiva (30 vs 90 dias):</a:t>
            </a:r>
          </a:p>
          <a:p>
            <a:r>
              <a:rPr lang="es-EC" sz="1400">
                <a:solidFill>
                  <a:srgbClr val="1E293B"/>
                </a:solidFill>
                <a:latin typeface="Calibri" panose="020F0502020204030204" pitchFamily="34" charset="0"/>
              </a:rPr>
              <a:t>  Deteccion estadistica temprana de aceleracion de ventas.</a:t>
            </a:r>
          </a:p>
          <a:p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EC" sz="1400">
                <a:solidFill>
                  <a:srgbClr val="1E293B"/>
                </a:solidFill>
                <a:latin typeface="Calibri" panose="020F0502020204030204" pitchFamily="34" charset="0"/>
              </a:rPr>
              <a:t>- Alertas Claras y Explicables:</a:t>
            </a:r>
          </a:p>
          <a:p>
            <a:r>
              <a:rPr lang="es-EC" sz="1400">
                <a:solidFill>
                  <a:srgbClr val="1E293B"/>
                </a:solidFill>
                <a:latin typeface="Calibri" panose="020F0502020204030204" pitchFamily="34" charset="0"/>
              </a:rPr>
              <a:t>  Amarillo: Alza observada (+50% demanda)</a:t>
            </a:r>
          </a:p>
          <a:p>
            <a:r>
              <a:rPr lang="es-EC" sz="1400">
                <a:solidFill>
                  <a:srgbClr val="1E293B"/>
                </a:solidFill>
                <a:latin typeface="Calibri" panose="020F0502020204030204" pitchFamily="34" charset="0"/>
              </a:rPr>
              <a:t>  Rojo: Alza critica (+100% demanda)</a:t>
            </a:r>
          </a:p>
          <a:p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EC" sz="1400">
                <a:solidFill>
                  <a:srgbClr val="1E293B"/>
                </a:solidFill>
                <a:latin typeface="Calibri" panose="020F0502020204030204" pitchFamily="34" charset="0"/>
              </a:rPr>
              <a:t>- Filtro por Categorias Sensibles:</a:t>
            </a:r>
          </a:p>
          <a:p>
            <a:r>
              <a:rPr lang="es-EC" sz="1400">
                <a:solidFill>
                  <a:srgbClr val="1E293B"/>
                </a:solidFill>
                <a:latin typeface="Calibri" panose="020F0502020204030204" pitchFamily="34" charset="0"/>
              </a:rPr>
              <a:t>  Cardiovasculares, Analgesicos y Respiratorios.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599D69-BD2E-45EA-B1C9-B02E98EAE940}"/>
              </a:ext>
            </a:extLst>
          </p:cNvPr>
          <p:cNvSpPr/>
          <p:nvPr/>
        </p:nvSpPr>
        <p:spPr>
          <a:xfrm>
            <a:off x="6350000" y="1651000"/>
            <a:ext cx="5080000" cy="4318000"/>
          </a:xfrm>
          <a:prstGeom prst="rect">
            <a:avLst/>
          </a:prstGeom>
          <a:solidFill>
            <a:srgbClr val="0F20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DB69FF-733B-77C7-C0F6-60661CD89D82}"/>
              </a:ext>
            </a:extLst>
          </p:cNvPr>
          <p:cNvSpPr txBox="1"/>
          <p:nvPr/>
        </p:nvSpPr>
        <p:spPr>
          <a:xfrm>
            <a:off x="6540500" y="1841500"/>
            <a:ext cx="4699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C" sz="1400">
                <a:solidFill>
                  <a:srgbClr val="FFFFFF"/>
                </a:solidFill>
                <a:latin typeface="Calibri" panose="020F0502020204030204" pitchFamily="34" charset="0"/>
              </a:rPr>
              <a:t>Arquitectura del Prototipo:</a:t>
            </a:r>
          </a:p>
          <a:p>
            <a:endParaRPr lang="es-EC" sz="14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s-EC" sz="1400">
                <a:solidFill>
                  <a:srgbClr val="FFFFFF"/>
                </a:solidFill>
                <a:latin typeface="Calibri" panose="020F0502020204030204" pitchFamily="34" charset="0"/>
              </a:rPr>
              <a:t>- Frontend Visual:</a:t>
            </a:r>
          </a:p>
          <a:p>
            <a:r>
              <a:rPr lang="es-EC" sz="1400">
                <a:solidFill>
                  <a:srgbClr val="FFFFFF"/>
                </a:solidFill>
                <a:latin typeface="Calibri" panose="020F0502020204030204" pitchFamily="34" charset="0"/>
              </a:rPr>
              <a:t>  React 18 + Vite + Leaflet + CARTO Basemaps + Lucide Icons.</a:t>
            </a:r>
          </a:p>
          <a:p>
            <a:endParaRPr lang="es-EC" sz="14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s-EC" sz="1400">
                <a:solidFill>
                  <a:srgbClr val="FFFFFF"/>
                </a:solidFill>
                <a:latin typeface="Calibri" panose="020F0502020204030204" pitchFamily="34" charset="0"/>
              </a:rPr>
              <a:t>- Backend Serverless:</a:t>
            </a:r>
          </a:p>
          <a:p>
            <a:r>
              <a:rPr lang="es-EC" sz="1400">
                <a:solidFill>
                  <a:srgbClr val="FFFFFF"/>
                </a:solidFill>
                <a:latin typeface="Calibri" panose="020F0502020204030204" pitchFamily="34" charset="0"/>
              </a:rPr>
              <a:t>  API REST en Python (estandar, ultraligera).</a:t>
            </a:r>
          </a:p>
          <a:p>
            <a:endParaRPr lang="es-EC" sz="14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s-EC" sz="1400">
                <a:solidFill>
                  <a:srgbClr val="FFFFFF"/>
                </a:solidFill>
                <a:latin typeface="Calibri" panose="020F0502020204030204" pitchFamily="34" charset="0"/>
              </a:rPr>
              <a:t>- Preparado para la Nube:</a:t>
            </a:r>
          </a:p>
          <a:p>
            <a:r>
              <a:rPr lang="es-EC" sz="1400">
                <a:solidFill>
                  <a:srgbClr val="FFFFFF"/>
                </a:solidFill>
                <a:latin typeface="Calibri" panose="020F0502020204030204" pitchFamily="34" charset="0"/>
              </a:rPr>
              <a:t>  AWS Lambda + API Gateway HTTP v2.</a:t>
            </a:r>
          </a:p>
          <a:p>
            <a:endParaRPr lang="es-EC" sz="14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s-EC" sz="1400">
                <a:solidFill>
                  <a:srgbClr val="FFFFFF"/>
                </a:solidFill>
                <a:latin typeface="Calibri" panose="020F0502020204030204" pitchFamily="34" charset="0"/>
              </a:rPr>
              <a:t>- Integracion Transaccional:</a:t>
            </a:r>
          </a:p>
          <a:p>
            <a:r>
              <a:rPr lang="es-EC" sz="1400">
                <a:solidFill>
                  <a:srgbClr val="FFFFFF"/>
                </a:solidFill>
                <a:latin typeface="Calibri" panose="020F0502020204030204" pitchFamily="34" charset="0"/>
              </a:rPr>
              <a:t>  Listo para conectar via API con SAP S/4HANA y Vendix POS.</a:t>
            </a:r>
          </a:p>
        </p:txBody>
      </p:sp>
    </p:spTree>
    <p:extLst>
      <p:ext uri="{BB962C8B-B14F-4D97-AF65-F5344CB8AC3E}">
        <p14:creationId xmlns:p14="http://schemas.microsoft.com/office/powerpoint/2010/main" val="3639941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B4DABCE-F25B-53AD-0B3B-DB914F4C40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B9BA75C-DF6F-4D00-0813-06CF679BA1B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70B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391E44-13AC-F356-F40D-C51FFD98A846}"/>
              </a:ext>
            </a:extLst>
          </p:cNvPr>
          <p:cNvSpPr txBox="1"/>
          <p:nvPr/>
        </p:nvSpPr>
        <p:spPr>
          <a:xfrm>
            <a:off x="762000" y="444500"/>
            <a:ext cx="1066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600" b="1">
                <a:solidFill>
                  <a:srgbClr val="0F2042"/>
                </a:solidFill>
                <a:latin typeface="Calibri" panose="020F0502020204030204" pitchFamily="34" charset="0"/>
              </a:rPr>
              <a:t>Novedad y Diferenciacion: Por que es Unico?</a:t>
            </a:r>
            <a:endParaRPr lang="es-EC" sz="2600" b="1">
              <a:solidFill>
                <a:srgbClr val="0F204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88692D-A6B0-7B64-189F-844A58CB6038}"/>
              </a:ext>
            </a:extLst>
          </p:cNvPr>
          <p:cNvSpPr txBox="1"/>
          <p:nvPr/>
        </p:nvSpPr>
        <p:spPr>
          <a:xfrm>
            <a:off x="762000" y="1016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solidFill>
                  <a:srgbClr val="64748B"/>
                </a:solidFill>
                <a:latin typeface="Calibri" panose="020F0502020204030204" pitchFamily="34" charset="0"/>
              </a:rPr>
              <a:t>Mas alla de un reporte estatico: accion operativa en primera linea y movilidad sostenible</a:t>
            </a:r>
            <a:endParaRPr lang="es-EC" sz="14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D261A16-E6FD-CA75-B006-51F89FF3187D}"/>
              </a:ext>
            </a:extLst>
          </p:cNvPr>
          <p:cNvSpPr txBox="1"/>
          <p:nvPr/>
        </p:nvSpPr>
        <p:spPr>
          <a:xfrm>
            <a:off x="762000" y="6350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4748B"/>
                </a:solidFill>
                <a:latin typeface="Calibri" panose="020F0502020204030204" pitchFamily="34" charset="0"/>
              </a:rPr>
              <a:t>FarmaSenal | Reto Farmaenlace y BYD - Equipo Los 21 Pilotos</a:t>
            </a:r>
            <a:endParaRPr lang="es-EC" sz="10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D079B48-8D8A-222E-9A51-D7C9FFC44FFA}"/>
              </a:ext>
            </a:extLst>
          </p:cNvPr>
          <p:cNvSpPr/>
          <p:nvPr/>
        </p:nvSpPr>
        <p:spPr>
          <a:xfrm>
            <a:off x="762000" y="1651000"/>
            <a:ext cx="5207000" cy="4318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AC1ED94-6A3B-9DA8-E7C5-0AD1D665B145}"/>
              </a:ext>
            </a:extLst>
          </p:cNvPr>
          <p:cNvSpPr txBox="1"/>
          <p:nvPr/>
        </p:nvSpPr>
        <p:spPr>
          <a:xfrm>
            <a:off x="952500" y="1841500"/>
            <a:ext cx="48260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Frente a Power BI / Qlik tradicional: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x Reporte forense mensual o semanal (pasado).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x Requiere analistas para interpretar graficos abstractos.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x No calcula distancias ni tiempos de ruta.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v FarmaSenal es OPERATIVO en tiempo real: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Genera recomendaciones directas de traslado entre farmacias del mismo barrio antes de que ocurra el quiebre.</a:t>
            </a:r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C7F0DA-1D46-285F-2432-C110087C2900}"/>
              </a:ext>
            </a:extLst>
          </p:cNvPr>
          <p:cNvSpPr/>
          <p:nvPr/>
        </p:nvSpPr>
        <p:spPr>
          <a:xfrm>
            <a:off x="6223000" y="1651000"/>
            <a:ext cx="5207000" cy="431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55E1F69-B8D6-0725-D709-EF8F662D25CB}"/>
              </a:ext>
            </a:extLst>
          </p:cNvPr>
          <p:cNvSpPr txBox="1"/>
          <p:nvPr/>
        </p:nvSpPr>
        <p:spPr>
          <a:xfrm>
            <a:off x="6413500" y="1841500"/>
            <a:ext cx="4826000" cy="26776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Sinergia Verde con BYD: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Logistica Electrica de Proximidad: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Los traslados intercomunitarios de medicamentos se ejecutan con vehiculos electricos BYD.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Red Nacional de Recarga: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Integracion con los mas de 150 puntos de carga BYD.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Cero Emisiones y Menor Costo por Km: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Reduccion drastica del costo de transporte en reabastecimiento de emergencia.</a:t>
            </a:r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000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911B2F0-0785-C112-C062-2397C4580B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ADCED2-1830-86BD-1250-82C114CBDBA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70B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DFAA1E-2EB9-3FC7-8A2F-3924B77C9D07}"/>
              </a:ext>
            </a:extLst>
          </p:cNvPr>
          <p:cNvSpPr txBox="1"/>
          <p:nvPr/>
        </p:nvSpPr>
        <p:spPr>
          <a:xfrm>
            <a:off x="762000" y="444500"/>
            <a:ext cx="1066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600" b="1">
                <a:solidFill>
                  <a:srgbClr val="0F2042"/>
                </a:solidFill>
                <a:latin typeface="Calibri" panose="020F0502020204030204" pitchFamily="34" charset="0"/>
              </a:rPr>
              <a:t>Impacto en Negocio y Ruta a Produccion</a:t>
            </a:r>
            <a:endParaRPr lang="es-EC" sz="2600" b="1">
              <a:solidFill>
                <a:srgbClr val="0F204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6363C5F-873E-5B16-CCAD-082F6730E75D}"/>
              </a:ext>
            </a:extLst>
          </p:cNvPr>
          <p:cNvSpPr txBox="1"/>
          <p:nvPr/>
        </p:nvSpPr>
        <p:spPr>
          <a:xfrm>
            <a:off x="762000" y="1016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solidFill>
                  <a:srgbClr val="64748B"/>
                </a:solidFill>
                <a:latin typeface="Calibri" panose="020F0502020204030204" pitchFamily="34" charset="0"/>
              </a:rPr>
              <a:t>Retorno de inversion medible y compatibilidad con la operacion actual</a:t>
            </a:r>
            <a:endParaRPr lang="es-EC" sz="14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3AE4FCF-C3D0-9D06-515D-391CCDA3A7CA}"/>
              </a:ext>
            </a:extLst>
          </p:cNvPr>
          <p:cNvSpPr txBox="1"/>
          <p:nvPr/>
        </p:nvSpPr>
        <p:spPr>
          <a:xfrm>
            <a:off x="762000" y="6350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4748B"/>
                </a:solidFill>
                <a:latin typeface="Calibri" panose="020F0502020204030204" pitchFamily="34" charset="0"/>
              </a:rPr>
              <a:t>FarmaSenal | Reto Farmaenlace y BYD - Equipo Los 21 Pilotos</a:t>
            </a:r>
            <a:endParaRPr lang="es-EC" sz="10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448FC5-CCDD-A035-A711-7808BB2F3DB0}"/>
              </a:ext>
            </a:extLst>
          </p:cNvPr>
          <p:cNvSpPr/>
          <p:nvPr/>
        </p:nvSpPr>
        <p:spPr>
          <a:xfrm>
            <a:off x="762000" y="1651000"/>
            <a:ext cx="5207000" cy="4318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71A1E0-E103-BEAE-C2B5-29B0C1CB1FD5}"/>
              </a:ext>
            </a:extLst>
          </p:cNvPr>
          <p:cNvSpPr txBox="1"/>
          <p:nvPr/>
        </p:nvSpPr>
        <p:spPr>
          <a:xfrm>
            <a:off x="1016000" y="1841500"/>
            <a:ext cx="4699000" cy="24622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Metrica de Reduccion de Costos: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Costo Operativo = 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(Ventas Perdidas x Margen)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+ (Mermas por Caducidad x Costo)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+ Costos de Fletes Urgentes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Resultados Esperados: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Retencion del paciente cronico en mostrador.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Disminucion del stock inmovilizado con riesgo de vencer.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- Eficiencia de fletes y abastecimiento programado.</a:t>
            </a:r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B2289D2-51A7-F85C-0E62-6AE1D221500C}"/>
              </a:ext>
            </a:extLst>
          </p:cNvPr>
          <p:cNvSpPr/>
          <p:nvPr/>
        </p:nvSpPr>
        <p:spPr>
          <a:xfrm>
            <a:off x="6223000" y="1651000"/>
            <a:ext cx="5207000" cy="4318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9BC4B16-7557-F420-BBD8-678A529A8B63}"/>
              </a:ext>
            </a:extLst>
          </p:cNvPr>
          <p:cNvSpPr txBox="1"/>
          <p:nvPr/>
        </p:nvSpPr>
        <p:spPr>
          <a:xfrm>
            <a:off x="6413500" y="1841500"/>
            <a:ext cx="4826000" cy="26776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Ruta hacia el Piloto Real: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1. Fase 1 (Completada hoy):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 Prototipo funcional extremo a extremo con datasets sinteticos validados (farmacias, productos, ventas e inventario).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2. Fase 2 (Piloto Territorial):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 Conexion con capa de APIs de Vendix / SAP en cluster piloto (ej. 15 locales en Quito).</a:t>
            </a:r>
          </a:p>
          <a:p>
            <a:endParaRPr lang="es-MX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3. Fase 3 (Escalamiento Nacional):</a:t>
            </a:r>
          </a:p>
          <a:p>
            <a:r>
              <a:rPr lang="es-MX" sz="1400">
                <a:solidFill>
                  <a:srgbClr val="1E293B"/>
                </a:solidFill>
                <a:latin typeface="Calibri" panose="020F0502020204030204" pitchFamily="34" charset="0"/>
              </a:rPr>
              <a:t>   Despliegue serverless en AWS y balanceo automatico.</a:t>
            </a:r>
            <a:endParaRPr lang="es-EC" sz="140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774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85AF30F-0F58-E4FA-6DAD-9E617579F3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04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99C9EB-1AD6-3676-201B-53CC02F1EA5C}"/>
              </a:ext>
            </a:extLst>
          </p:cNvPr>
          <p:cNvSpPr txBox="1"/>
          <p:nvPr/>
        </p:nvSpPr>
        <p:spPr>
          <a:xfrm>
            <a:off x="1016000" y="2032000"/>
            <a:ext cx="10160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FFFF"/>
                </a:solidFill>
                <a:latin typeface="Calibri" panose="020F0502020204030204" pitchFamily="34" charset="0"/>
              </a:rPr>
              <a:t>"Que ningun ser querido se quede sin su medicina, y que ninguna farmacia pierda una venta."</a:t>
            </a:r>
            <a:endParaRPr lang="es-EC" sz="3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4BD290-A8BE-D4B0-791F-E137DC346B00}"/>
              </a:ext>
            </a:extLst>
          </p:cNvPr>
          <p:cNvSpPr txBox="1"/>
          <p:nvPr/>
        </p:nvSpPr>
        <p:spPr>
          <a:xfrm>
            <a:off x="1079500" y="3683000"/>
            <a:ext cx="10160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000">
                <a:solidFill>
                  <a:srgbClr val="0070BA"/>
                </a:solidFill>
                <a:latin typeface="Calibri" panose="020F0502020204030204" pitchFamily="34" charset="0"/>
              </a:rPr>
              <a:t>FarmaSenal: Inteligencia Geoespacial para Farmaenlace y BYD</a:t>
            </a:r>
          </a:p>
          <a:p>
            <a:endParaRPr lang="es-MX" sz="2000">
              <a:solidFill>
                <a:srgbClr val="0070BA"/>
              </a:solidFill>
              <a:latin typeface="Calibri" panose="020F0502020204030204" pitchFamily="34" charset="0"/>
            </a:endParaRPr>
          </a:p>
          <a:p>
            <a:r>
              <a:rPr lang="es-MX" sz="2000">
                <a:solidFill>
                  <a:srgbClr val="0070BA"/>
                </a:solidFill>
                <a:latin typeface="Calibri" panose="020F0502020204030204" pitchFamily="34" charset="0"/>
              </a:rPr>
              <a:t>Muchas gracias. Quedamos atentos a sus preguntas.</a:t>
            </a:r>
            <a:endParaRPr lang="es-EC" sz="2000">
              <a:solidFill>
                <a:srgbClr val="0070B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1379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</Words>
  <Application>Microsoft Office PowerPoint</Application>
  <PresentationFormat>Personalizado</PresentationFormat>
  <Paragraphs>134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Damian Andrade Arciniegas</dc:creator>
  <cp:lastModifiedBy>Victor Damian Andrade Arciniegas</cp:lastModifiedBy>
  <cp:revision>1</cp:revision>
  <dcterms:created xsi:type="dcterms:W3CDTF">2026-10-08T18:38:45Z</dcterms:created>
  <dcterms:modified xsi:type="dcterms:W3CDTF">2026-10-08T18:38:45Z</dcterms:modified>
</cp:coreProperties>
</file>